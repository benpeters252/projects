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259" r:id="rId2"/>
    <p:sldId id="260"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A05853-D620-4533-9B2A-7713E80D9FCD}" v="3" dt="2026-03-18T18:37:37.7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1" autoAdjust="0"/>
    <p:restoredTop sz="94660"/>
  </p:normalViewPr>
  <p:slideViewPr>
    <p:cSldViewPr snapToGrid="0">
      <p:cViewPr varScale="1">
        <p:scale>
          <a:sx n="93" d="100"/>
          <a:sy n="93" d="100"/>
        </p:scale>
        <p:origin x="744" y="2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9"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4A9663-9441-46D8-B21B-00BF361335DE}" type="datetimeFigureOut">
              <a:rPr lang="en-US" smtClean="0"/>
              <a:t>3/18/2026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1DAF81-25AC-4140-9827-34E721541347}" type="slidenum">
              <a:rPr lang="en-US" smtClean="0"/>
              <a:t>‹#›</a:t>
            </a:fld>
            <a:endParaRPr lang="en-US"/>
          </a:p>
        </p:txBody>
      </p:sp>
    </p:spTree>
    <p:extLst>
      <p:ext uri="{BB962C8B-B14F-4D97-AF65-F5344CB8AC3E}">
        <p14:creationId xmlns:p14="http://schemas.microsoft.com/office/powerpoint/2010/main" val="3442179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
          <a:extLst>
            <a:ext uri="{FF2B5EF4-FFF2-40B4-BE49-F238E27FC236}">
              <a16:creationId xmlns:a16="http://schemas.microsoft.com/office/drawing/2014/main" id="{994B0223-B45F-83CE-1497-678FA74DCA24}"/>
            </a:ext>
          </a:extLst>
        </p:cNvPr>
        <p:cNvGrpSpPr/>
        <p:nvPr/>
      </p:nvGrpSpPr>
      <p:grpSpPr>
        <a:xfrm>
          <a:off x="0" y="0"/>
          <a:ext cx="0" cy="0"/>
          <a:chOff x="0" y="0"/>
          <a:chExt cx="0" cy="0"/>
        </a:xfrm>
      </p:grpSpPr>
      <p:sp>
        <p:nvSpPr>
          <p:cNvPr id="16" name="Google Shape;16;p1:notes">
            <a:extLst>
              <a:ext uri="{FF2B5EF4-FFF2-40B4-BE49-F238E27FC236}">
                <a16:creationId xmlns:a16="http://schemas.microsoft.com/office/drawing/2014/main" id="{1B1B7A6F-994A-66EE-D6E9-897D5D54FC3B}"/>
              </a:ext>
            </a:extLst>
          </p:cNvPr>
          <p:cNvSpPr txBox="1">
            <a:spLocks noGrp="1"/>
          </p:cNvSpPr>
          <p:nvPr>
            <p:ph type="sldNum" idx="12"/>
          </p:nvPr>
        </p:nvSpPr>
        <p:spPr>
          <a:xfrm>
            <a:off x="6042320" y="9493393"/>
            <a:ext cx="169918" cy="18466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AU" sz="1800" b="0" i="0" u="none" strike="noStrike" cap="none">
                <a:solidFill>
                  <a:srgbClr val="000000"/>
                </a:solidFill>
              </a:rPr>
              <a:t>1</a:t>
            </a:fld>
            <a:endParaRPr sz="1800" b="0" i="0" u="none" strike="noStrike" cap="none">
              <a:solidFill>
                <a:srgbClr val="000000"/>
              </a:solidFill>
            </a:endParaRPr>
          </a:p>
        </p:txBody>
      </p:sp>
      <p:sp>
        <p:nvSpPr>
          <p:cNvPr id="17" name="Google Shape;17;p1:notes">
            <a:extLst>
              <a:ext uri="{FF2B5EF4-FFF2-40B4-BE49-F238E27FC236}">
                <a16:creationId xmlns:a16="http://schemas.microsoft.com/office/drawing/2014/main" id="{40156BEB-523E-1DCF-8D68-B56C32D0DEDD}"/>
              </a:ext>
            </a:extLst>
          </p:cNvPr>
          <p:cNvSpPr>
            <a:spLocks noGrp="1" noRot="1" noChangeAspect="1"/>
          </p:cNvSpPr>
          <p:nvPr>
            <p:ph type="sldImg" idx="2"/>
          </p:nvPr>
        </p:nvSpPr>
        <p:spPr>
          <a:xfrm>
            <a:off x="-4186238" y="1265238"/>
            <a:ext cx="14935201" cy="84010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 name="Google Shape;18;p1:notes">
            <a:extLst>
              <a:ext uri="{FF2B5EF4-FFF2-40B4-BE49-F238E27FC236}">
                <a16:creationId xmlns:a16="http://schemas.microsoft.com/office/drawing/2014/main" id="{1EAD7BCC-5C56-0A27-5C22-B1F40D715D38}"/>
              </a:ext>
            </a:extLst>
          </p:cNvPr>
          <p:cNvSpPr txBox="1">
            <a:spLocks noGrp="1"/>
          </p:cNvSpPr>
          <p:nvPr>
            <p:ph type="body" idx="1"/>
          </p:nvPr>
        </p:nvSpPr>
        <p:spPr>
          <a:xfrm>
            <a:off x="789535" y="605318"/>
            <a:ext cx="5470797" cy="24622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AU" b="1"/>
              <a:t>Hypothesis: </a:t>
            </a:r>
            <a:r>
              <a:rPr lang="en-AU" sz="1200" b="0" i="1" u="none" strike="noStrike" cap="none">
                <a:solidFill>
                  <a:srgbClr val="000000"/>
                </a:solidFill>
                <a:latin typeface="Arial"/>
                <a:ea typeface="Arial"/>
                <a:cs typeface="Arial"/>
                <a:sym typeface="Arial"/>
              </a:rPr>
              <a:t>Create a Hypothesis with an emphasis on SMART principles. </a:t>
            </a:r>
            <a:r>
              <a:rPr lang="en-AU" sz="1200" b="1" i="1" u="none" strike="noStrike" cap="none">
                <a:solidFill>
                  <a:srgbClr val="000000"/>
                </a:solidFill>
                <a:latin typeface="Arial"/>
                <a:ea typeface="Arial"/>
                <a:cs typeface="Arial"/>
                <a:sym typeface="Arial"/>
              </a:rPr>
              <a:t>(</a:t>
            </a:r>
            <a:r>
              <a:rPr lang="en-AU" sz="1200" b="1" i="1"/>
              <a:t>S – Specific, M – Measurable, A – Achievable, R – Realistic, T – Timebound). </a:t>
            </a:r>
            <a:r>
              <a:rPr lang="en-AU" sz="1200" b="0" i="0"/>
              <a:t>If you cannot do this, you </a:t>
            </a:r>
            <a:r>
              <a:rPr lang="en-AU" sz="1200" b="1" i="0"/>
              <a:t>do not</a:t>
            </a:r>
            <a:r>
              <a:rPr lang="en-AU" sz="1200" b="0" i="0"/>
              <a:t> have a good grasp on the business problem.</a:t>
            </a:r>
            <a:endParaRPr b="1"/>
          </a:p>
          <a:p>
            <a:pPr marL="0" lvl="0" indent="0" algn="l" rtl="0">
              <a:lnSpc>
                <a:spcPct val="100000"/>
              </a:lnSpc>
              <a:spcBef>
                <a:spcPts val="0"/>
              </a:spcBef>
              <a:spcAft>
                <a:spcPts val="0"/>
              </a:spcAft>
              <a:buSzPts val="1400"/>
              <a:buNone/>
            </a:pPr>
            <a:endParaRPr/>
          </a:p>
          <a:p>
            <a:pPr marL="0" marR="0" lvl="0" indent="0" algn="l" rtl="0">
              <a:lnSpc>
                <a:spcPct val="100000"/>
              </a:lnSpc>
              <a:spcBef>
                <a:spcPts val="0"/>
              </a:spcBef>
              <a:spcAft>
                <a:spcPts val="0"/>
              </a:spcAft>
              <a:buClr>
                <a:srgbClr val="000000"/>
              </a:buClr>
              <a:buSzPts val="1400"/>
              <a:buFont typeface="Arial"/>
              <a:buNone/>
            </a:pPr>
            <a:r>
              <a:rPr lang="en-AU" b="1"/>
              <a:t>Context: </a:t>
            </a:r>
            <a:r>
              <a:rPr lang="en-AU" sz="1200"/>
              <a:t>With context, we have </a:t>
            </a:r>
            <a:r>
              <a:rPr lang="en-AU" sz="1200" b="1" u="sng"/>
              <a:t>clearly identified the problem at hand </a:t>
            </a:r>
            <a:r>
              <a:rPr lang="en-AU" sz="1200"/>
              <a:t>and have elucidated on how our initiative may solve this problem, alongside the commercial implications this will have on the business. </a:t>
            </a:r>
            <a:endParaRPr/>
          </a:p>
          <a:p>
            <a:pPr marL="0" lvl="0" indent="0" algn="l" rtl="0">
              <a:lnSpc>
                <a:spcPct val="100000"/>
              </a:lnSpc>
              <a:spcBef>
                <a:spcPts val="0"/>
              </a:spcBef>
              <a:spcAft>
                <a:spcPts val="0"/>
              </a:spcAft>
              <a:buSzPts val="1400"/>
              <a:buNone/>
            </a:pPr>
            <a:endParaRPr b="1"/>
          </a:p>
          <a:p>
            <a:pPr marL="0" lvl="0" indent="0" algn="l" rtl="0">
              <a:lnSpc>
                <a:spcPct val="100000"/>
              </a:lnSpc>
              <a:spcBef>
                <a:spcPts val="0"/>
              </a:spcBef>
              <a:spcAft>
                <a:spcPts val="0"/>
              </a:spcAft>
              <a:buSzPts val="1400"/>
              <a:buNone/>
            </a:pPr>
            <a:r>
              <a:rPr lang="en-AU" b="1"/>
              <a:t>Criteria for Success</a:t>
            </a:r>
            <a:r>
              <a:rPr lang="en-AU" b="0"/>
              <a:t>: Clearly defining the criteria for success ensures that the scope of your work is clearly defined and understood. Otherwise, if this isn’t defined – your work will never end which will result in mismatched expectations.</a:t>
            </a:r>
            <a:endParaRPr/>
          </a:p>
          <a:p>
            <a:pPr marL="0" lvl="0" indent="0" algn="l" rtl="0">
              <a:lnSpc>
                <a:spcPct val="100000"/>
              </a:lnSpc>
              <a:spcBef>
                <a:spcPts val="0"/>
              </a:spcBef>
              <a:spcAft>
                <a:spcPts val="0"/>
              </a:spcAft>
              <a:buSzPts val="1400"/>
              <a:buNone/>
            </a:pPr>
            <a:endParaRPr b="0"/>
          </a:p>
          <a:p>
            <a:pPr marL="0" lvl="0" indent="0" algn="l" rtl="0">
              <a:lnSpc>
                <a:spcPct val="100000"/>
              </a:lnSpc>
              <a:spcBef>
                <a:spcPts val="0"/>
              </a:spcBef>
              <a:spcAft>
                <a:spcPts val="0"/>
              </a:spcAft>
              <a:buSzPts val="1400"/>
              <a:buNone/>
            </a:pPr>
            <a:r>
              <a:rPr lang="en-AU" b="1"/>
              <a:t>Scope of Solution Space: </a:t>
            </a:r>
            <a:r>
              <a:rPr lang="en-AU" b="0"/>
              <a:t>Scoping out the solution space ensures that the business initiative is SPECIFIC for a certain segment or area. This prevents solutions that have been developed being scaled and applied for all other business units that the solution may not be responsible or scalable for.</a:t>
            </a:r>
            <a:endParaRPr/>
          </a:p>
          <a:p>
            <a:pPr marL="0" lvl="0" indent="0" algn="l" rtl="0">
              <a:lnSpc>
                <a:spcPct val="100000"/>
              </a:lnSpc>
              <a:spcBef>
                <a:spcPts val="0"/>
              </a:spcBef>
              <a:spcAft>
                <a:spcPts val="0"/>
              </a:spcAft>
              <a:buSzPts val="1400"/>
              <a:buNone/>
            </a:pPr>
            <a:endParaRPr b="0"/>
          </a:p>
          <a:p>
            <a:pPr marL="0" lvl="0" indent="0" algn="l" rtl="0">
              <a:lnSpc>
                <a:spcPct val="100000"/>
              </a:lnSpc>
              <a:spcBef>
                <a:spcPts val="0"/>
              </a:spcBef>
              <a:spcAft>
                <a:spcPts val="0"/>
              </a:spcAft>
              <a:buSzPts val="1400"/>
              <a:buNone/>
            </a:pPr>
            <a:r>
              <a:rPr lang="en-AU" b="1"/>
              <a:t>Constraints within Solution Space: </a:t>
            </a:r>
            <a:r>
              <a:rPr lang="en-AU" b="0"/>
              <a:t>Looking forward, what are the foreseeable problems we are likely to encounter? Could this be stakeholder resistance? Could this be we don’t have access to the right data? </a:t>
            </a:r>
            <a:endParaRPr/>
          </a:p>
          <a:p>
            <a:pPr marL="0" lvl="0" indent="0" algn="l" rtl="0">
              <a:lnSpc>
                <a:spcPct val="100000"/>
              </a:lnSpc>
              <a:spcBef>
                <a:spcPts val="0"/>
              </a:spcBef>
              <a:spcAft>
                <a:spcPts val="0"/>
              </a:spcAft>
              <a:buSzPts val="1400"/>
              <a:buNone/>
            </a:pPr>
            <a:endParaRPr b="0"/>
          </a:p>
          <a:p>
            <a:pPr marL="0" lvl="0" indent="0" algn="l" rtl="0">
              <a:lnSpc>
                <a:spcPct val="100000"/>
              </a:lnSpc>
              <a:spcBef>
                <a:spcPts val="0"/>
              </a:spcBef>
              <a:spcAft>
                <a:spcPts val="0"/>
              </a:spcAft>
              <a:buSzPts val="1400"/>
              <a:buNone/>
            </a:pPr>
            <a:r>
              <a:rPr lang="en-AU" b="1"/>
              <a:t>Stakeholders to provide key insight: </a:t>
            </a:r>
            <a:r>
              <a:rPr lang="en-AU" b="0"/>
              <a:t>Who are the people I need to speak to, to get the answers I need for my data analysis?</a:t>
            </a:r>
            <a:endParaRPr/>
          </a:p>
          <a:p>
            <a:pPr marL="0" lvl="0" indent="0" algn="l" rtl="0">
              <a:lnSpc>
                <a:spcPct val="100000"/>
              </a:lnSpc>
              <a:spcBef>
                <a:spcPts val="0"/>
              </a:spcBef>
              <a:spcAft>
                <a:spcPts val="0"/>
              </a:spcAft>
              <a:buSzPts val="1400"/>
              <a:buNone/>
            </a:pPr>
            <a:endParaRPr b="0"/>
          </a:p>
          <a:p>
            <a:pPr marL="0" lvl="0" indent="0" algn="l" rtl="0">
              <a:lnSpc>
                <a:spcPct val="100000"/>
              </a:lnSpc>
              <a:spcBef>
                <a:spcPts val="0"/>
              </a:spcBef>
              <a:spcAft>
                <a:spcPts val="0"/>
              </a:spcAft>
              <a:buSzPts val="1400"/>
              <a:buNone/>
            </a:pPr>
            <a:r>
              <a:rPr lang="en-AU" b="1"/>
              <a:t>What key data sources are required</a:t>
            </a:r>
            <a:r>
              <a:rPr lang="en-AU" b="0"/>
              <a:t>?</a:t>
            </a:r>
            <a:endParaRPr/>
          </a:p>
          <a:p>
            <a:pPr marL="0" lvl="0" indent="0" algn="l" rtl="0">
              <a:lnSpc>
                <a:spcPct val="100000"/>
              </a:lnSpc>
              <a:spcBef>
                <a:spcPts val="0"/>
              </a:spcBef>
              <a:spcAft>
                <a:spcPts val="0"/>
              </a:spcAft>
              <a:buSzPts val="1400"/>
              <a:buNone/>
            </a:pPr>
            <a:r>
              <a:rPr lang="en-AU" b="0"/>
              <a:t>Based off my discussions with the key stakeholders – can we clearly list out all the data sources we need so we can make a highly targeted request as opposed to a scatter-gun approach where we ask for a bit of everything?</a:t>
            </a:r>
            <a:endParaRPr/>
          </a:p>
          <a:p>
            <a:pPr marL="0" lvl="0" indent="0" algn="l" rtl="0">
              <a:lnSpc>
                <a:spcPct val="100000"/>
              </a:lnSpc>
              <a:spcBef>
                <a:spcPts val="0"/>
              </a:spcBef>
              <a:spcAft>
                <a:spcPts val="0"/>
              </a:spcAft>
              <a:buSzPts val="1400"/>
              <a:buNone/>
            </a:pPr>
            <a:endParaRPr b="1"/>
          </a:p>
          <a:p>
            <a:pPr marL="0" lvl="0" indent="0" algn="l" rtl="0">
              <a:lnSpc>
                <a:spcPct val="100000"/>
              </a:lnSpc>
              <a:spcBef>
                <a:spcPts val="0"/>
              </a:spcBef>
              <a:spcAft>
                <a:spcPts val="0"/>
              </a:spcAft>
              <a:buSzPts val="1400"/>
              <a:buNone/>
            </a:pPr>
            <a:endParaRPr b="1"/>
          </a:p>
        </p:txBody>
      </p:sp>
    </p:spTree>
    <p:extLst>
      <p:ext uri="{BB962C8B-B14F-4D97-AF65-F5344CB8AC3E}">
        <p14:creationId xmlns:p14="http://schemas.microsoft.com/office/powerpoint/2010/main" val="7175792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2E41ACD8-978B-4B89-49C8-F9176290F62C}"/>
            </a:ext>
          </a:extLst>
        </p:cNvPr>
        <p:cNvGrpSpPr/>
        <p:nvPr/>
      </p:nvGrpSpPr>
      <p:grpSpPr>
        <a:xfrm>
          <a:off x="0" y="0"/>
          <a:ext cx="0" cy="0"/>
          <a:chOff x="0" y="0"/>
          <a:chExt cx="0" cy="0"/>
        </a:xfrm>
      </p:grpSpPr>
      <p:sp>
        <p:nvSpPr>
          <p:cNvPr id="40" name="Google Shape;40;p4:notes">
            <a:extLst>
              <a:ext uri="{FF2B5EF4-FFF2-40B4-BE49-F238E27FC236}">
                <a16:creationId xmlns:a16="http://schemas.microsoft.com/office/drawing/2014/main" id="{B51164D3-D537-AADA-3736-8412C059E72E}"/>
              </a:ext>
            </a:extLst>
          </p:cNvPr>
          <p:cNvSpPr txBox="1">
            <a:spLocks noGrp="1"/>
          </p:cNvSpPr>
          <p:nvPr>
            <p:ph type="sldNum" idx="12"/>
          </p:nvPr>
        </p:nvSpPr>
        <p:spPr>
          <a:xfrm>
            <a:off x="6042320" y="9493393"/>
            <a:ext cx="169918" cy="18466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AU" sz="1800" b="0" i="0" u="none" strike="noStrike" cap="none">
                <a:solidFill>
                  <a:srgbClr val="000000"/>
                </a:solidFill>
              </a:rPr>
              <a:t>2</a:t>
            </a:fld>
            <a:endParaRPr sz="1800" b="0" i="0" u="none" strike="noStrike" cap="none">
              <a:solidFill>
                <a:srgbClr val="000000"/>
              </a:solidFill>
            </a:endParaRPr>
          </a:p>
        </p:txBody>
      </p:sp>
      <p:sp>
        <p:nvSpPr>
          <p:cNvPr id="41" name="Google Shape;41;p4:notes">
            <a:extLst>
              <a:ext uri="{FF2B5EF4-FFF2-40B4-BE49-F238E27FC236}">
                <a16:creationId xmlns:a16="http://schemas.microsoft.com/office/drawing/2014/main" id="{B7D90CA5-DE70-912E-B192-4310167A3BC2}"/>
              </a:ext>
            </a:extLst>
          </p:cNvPr>
          <p:cNvSpPr>
            <a:spLocks noGrp="1" noRot="1" noChangeAspect="1"/>
          </p:cNvSpPr>
          <p:nvPr>
            <p:ph type="sldImg" idx="2"/>
          </p:nvPr>
        </p:nvSpPr>
        <p:spPr>
          <a:xfrm>
            <a:off x="-4186238" y="1265238"/>
            <a:ext cx="14935201" cy="84010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 name="Google Shape;42;p4:notes">
            <a:extLst>
              <a:ext uri="{FF2B5EF4-FFF2-40B4-BE49-F238E27FC236}">
                <a16:creationId xmlns:a16="http://schemas.microsoft.com/office/drawing/2014/main" id="{2D52B499-7D5A-4F92-F9D0-8BEA36BFAD85}"/>
              </a:ext>
            </a:extLst>
          </p:cNvPr>
          <p:cNvSpPr txBox="1">
            <a:spLocks noGrp="1"/>
          </p:cNvSpPr>
          <p:nvPr>
            <p:ph type="body" idx="1"/>
          </p:nvPr>
        </p:nvSpPr>
        <p:spPr>
          <a:xfrm>
            <a:off x="789535" y="605318"/>
            <a:ext cx="5470797" cy="24622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AU" b="1"/>
              <a:t>Hypothesis: </a:t>
            </a:r>
            <a:r>
              <a:rPr lang="en-AU" sz="1200" b="0" i="1" u="none" strike="noStrike" cap="none">
                <a:solidFill>
                  <a:srgbClr val="000000"/>
                </a:solidFill>
                <a:latin typeface="Arial"/>
                <a:ea typeface="Arial"/>
                <a:cs typeface="Arial"/>
                <a:sym typeface="Arial"/>
              </a:rPr>
              <a:t>Create a Hypothesis with an emphasis on SMART principles. </a:t>
            </a:r>
            <a:r>
              <a:rPr lang="en-AU" sz="1200" b="1" i="1" u="none" strike="noStrike" cap="none">
                <a:solidFill>
                  <a:srgbClr val="000000"/>
                </a:solidFill>
                <a:latin typeface="Arial"/>
                <a:ea typeface="Arial"/>
                <a:cs typeface="Arial"/>
                <a:sym typeface="Arial"/>
              </a:rPr>
              <a:t>(</a:t>
            </a:r>
            <a:r>
              <a:rPr lang="en-AU" sz="1200" b="1" i="1"/>
              <a:t>S – Specific, M – Measurable, A – Achievable, R – Realistic, T – Timebound). </a:t>
            </a:r>
            <a:r>
              <a:rPr lang="en-AU" sz="1200" b="0" i="0"/>
              <a:t>If you cannot do this, you </a:t>
            </a:r>
            <a:r>
              <a:rPr lang="en-AU" sz="1200" b="1" i="0"/>
              <a:t>do not</a:t>
            </a:r>
            <a:r>
              <a:rPr lang="en-AU" sz="1200" b="0" i="0"/>
              <a:t> have a good grasp on the business problem.</a:t>
            </a:r>
            <a:endParaRPr b="1"/>
          </a:p>
          <a:p>
            <a:pPr marL="0" lvl="0" indent="0" algn="l" rtl="0">
              <a:lnSpc>
                <a:spcPct val="100000"/>
              </a:lnSpc>
              <a:spcBef>
                <a:spcPts val="0"/>
              </a:spcBef>
              <a:spcAft>
                <a:spcPts val="0"/>
              </a:spcAft>
              <a:buSzPts val="1400"/>
              <a:buNone/>
            </a:pPr>
            <a:endParaRPr/>
          </a:p>
          <a:p>
            <a:pPr marL="0" marR="0" lvl="0" indent="0" algn="l" rtl="0">
              <a:lnSpc>
                <a:spcPct val="100000"/>
              </a:lnSpc>
              <a:spcBef>
                <a:spcPts val="0"/>
              </a:spcBef>
              <a:spcAft>
                <a:spcPts val="0"/>
              </a:spcAft>
              <a:buClr>
                <a:srgbClr val="000000"/>
              </a:buClr>
              <a:buSzPts val="1400"/>
              <a:buFont typeface="Arial"/>
              <a:buNone/>
            </a:pPr>
            <a:r>
              <a:rPr lang="en-AU" b="1"/>
              <a:t>Context: </a:t>
            </a:r>
            <a:r>
              <a:rPr lang="en-AU" sz="1200"/>
              <a:t>With context, we have </a:t>
            </a:r>
            <a:r>
              <a:rPr lang="en-AU" sz="1200" b="1" u="sng"/>
              <a:t>clearly identified the problem at hand </a:t>
            </a:r>
            <a:r>
              <a:rPr lang="en-AU" sz="1200"/>
              <a:t>and have elucidated on how our initiative may solve this problem, alongside the commercial implications this will have on the business. </a:t>
            </a:r>
            <a:endParaRPr/>
          </a:p>
          <a:p>
            <a:pPr marL="0" lvl="0" indent="0" algn="l" rtl="0">
              <a:lnSpc>
                <a:spcPct val="100000"/>
              </a:lnSpc>
              <a:spcBef>
                <a:spcPts val="0"/>
              </a:spcBef>
              <a:spcAft>
                <a:spcPts val="0"/>
              </a:spcAft>
              <a:buSzPts val="1400"/>
              <a:buNone/>
            </a:pPr>
            <a:endParaRPr b="1"/>
          </a:p>
          <a:p>
            <a:pPr marL="0" lvl="0" indent="0" algn="l" rtl="0">
              <a:lnSpc>
                <a:spcPct val="100000"/>
              </a:lnSpc>
              <a:spcBef>
                <a:spcPts val="0"/>
              </a:spcBef>
              <a:spcAft>
                <a:spcPts val="0"/>
              </a:spcAft>
              <a:buSzPts val="1400"/>
              <a:buNone/>
            </a:pPr>
            <a:r>
              <a:rPr lang="en-AU" b="1"/>
              <a:t>Criteria for Success</a:t>
            </a:r>
            <a:r>
              <a:rPr lang="en-AU" b="0"/>
              <a:t>: Clearly defining the criteria for success ensures that the scope of your work is clearly defined and understood. Otherwise, if this isn’t defined – your work will never end which will result in mismatched expectations.</a:t>
            </a:r>
            <a:endParaRPr/>
          </a:p>
          <a:p>
            <a:pPr marL="0" lvl="0" indent="0" algn="l" rtl="0">
              <a:lnSpc>
                <a:spcPct val="100000"/>
              </a:lnSpc>
              <a:spcBef>
                <a:spcPts val="0"/>
              </a:spcBef>
              <a:spcAft>
                <a:spcPts val="0"/>
              </a:spcAft>
              <a:buSzPts val="1400"/>
              <a:buNone/>
            </a:pPr>
            <a:endParaRPr b="0"/>
          </a:p>
          <a:p>
            <a:pPr marL="0" lvl="0" indent="0" algn="l" rtl="0">
              <a:lnSpc>
                <a:spcPct val="100000"/>
              </a:lnSpc>
              <a:spcBef>
                <a:spcPts val="0"/>
              </a:spcBef>
              <a:spcAft>
                <a:spcPts val="0"/>
              </a:spcAft>
              <a:buSzPts val="1400"/>
              <a:buNone/>
            </a:pPr>
            <a:r>
              <a:rPr lang="en-AU" b="1"/>
              <a:t>Scope of Solution Space: </a:t>
            </a:r>
            <a:r>
              <a:rPr lang="en-AU" b="0"/>
              <a:t>Scoping out the solution space ensures that the business initiative is SPECIFIC for a certain segment or area. This prevents solutions that have been developed being scaled and applied for all other business units that the solution may not be responsible or scalable for.</a:t>
            </a:r>
            <a:endParaRPr/>
          </a:p>
          <a:p>
            <a:pPr marL="0" lvl="0" indent="0" algn="l" rtl="0">
              <a:lnSpc>
                <a:spcPct val="100000"/>
              </a:lnSpc>
              <a:spcBef>
                <a:spcPts val="0"/>
              </a:spcBef>
              <a:spcAft>
                <a:spcPts val="0"/>
              </a:spcAft>
              <a:buSzPts val="1400"/>
              <a:buNone/>
            </a:pPr>
            <a:endParaRPr b="0"/>
          </a:p>
          <a:p>
            <a:pPr marL="0" lvl="0" indent="0" algn="l" rtl="0">
              <a:lnSpc>
                <a:spcPct val="100000"/>
              </a:lnSpc>
              <a:spcBef>
                <a:spcPts val="0"/>
              </a:spcBef>
              <a:spcAft>
                <a:spcPts val="0"/>
              </a:spcAft>
              <a:buSzPts val="1400"/>
              <a:buNone/>
            </a:pPr>
            <a:r>
              <a:rPr lang="en-AU" b="1"/>
              <a:t>Constraints within Solution Space: </a:t>
            </a:r>
            <a:r>
              <a:rPr lang="en-AU" b="0"/>
              <a:t>Looking forward, what are the foreseeable problems we are likely to encounter? Could this be stakeholder resistance? Could this be we don’t have access to the right data? </a:t>
            </a:r>
            <a:endParaRPr/>
          </a:p>
          <a:p>
            <a:pPr marL="0" lvl="0" indent="0" algn="l" rtl="0">
              <a:lnSpc>
                <a:spcPct val="100000"/>
              </a:lnSpc>
              <a:spcBef>
                <a:spcPts val="0"/>
              </a:spcBef>
              <a:spcAft>
                <a:spcPts val="0"/>
              </a:spcAft>
              <a:buSzPts val="1400"/>
              <a:buNone/>
            </a:pPr>
            <a:endParaRPr b="0"/>
          </a:p>
          <a:p>
            <a:pPr marL="0" lvl="0" indent="0" algn="l" rtl="0">
              <a:lnSpc>
                <a:spcPct val="100000"/>
              </a:lnSpc>
              <a:spcBef>
                <a:spcPts val="0"/>
              </a:spcBef>
              <a:spcAft>
                <a:spcPts val="0"/>
              </a:spcAft>
              <a:buSzPts val="1400"/>
              <a:buNone/>
            </a:pPr>
            <a:r>
              <a:rPr lang="en-AU" b="1"/>
              <a:t>Stakeholders to provide key insight: </a:t>
            </a:r>
            <a:r>
              <a:rPr lang="en-AU" b="0"/>
              <a:t>Who are the people I need to speak to, to get the answers I need for my data analysis?</a:t>
            </a:r>
            <a:endParaRPr/>
          </a:p>
          <a:p>
            <a:pPr marL="0" lvl="0" indent="0" algn="l" rtl="0">
              <a:lnSpc>
                <a:spcPct val="100000"/>
              </a:lnSpc>
              <a:spcBef>
                <a:spcPts val="0"/>
              </a:spcBef>
              <a:spcAft>
                <a:spcPts val="0"/>
              </a:spcAft>
              <a:buSzPts val="1400"/>
              <a:buNone/>
            </a:pPr>
            <a:endParaRPr b="0"/>
          </a:p>
          <a:p>
            <a:pPr marL="0" lvl="0" indent="0" algn="l" rtl="0">
              <a:lnSpc>
                <a:spcPct val="100000"/>
              </a:lnSpc>
              <a:spcBef>
                <a:spcPts val="0"/>
              </a:spcBef>
              <a:spcAft>
                <a:spcPts val="0"/>
              </a:spcAft>
              <a:buSzPts val="1400"/>
              <a:buNone/>
            </a:pPr>
            <a:r>
              <a:rPr lang="en-AU" b="1"/>
              <a:t>What key data sources are required</a:t>
            </a:r>
            <a:r>
              <a:rPr lang="en-AU" b="0"/>
              <a:t>?</a:t>
            </a:r>
            <a:endParaRPr/>
          </a:p>
          <a:p>
            <a:pPr marL="0" lvl="0" indent="0" algn="l" rtl="0">
              <a:lnSpc>
                <a:spcPct val="100000"/>
              </a:lnSpc>
              <a:spcBef>
                <a:spcPts val="0"/>
              </a:spcBef>
              <a:spcAft>
                <a:spcPts val="0"/>
              </a:spcAft>
              <a:buSzPts val="1400"/>
              <a:buNone/>
            </a:pPr>
            <a:r>
              <a:rPr lang="en-AU" b="0"/>
              <a:t>Based off my discussions with the key stakeholders – can we clearly list out all the data sources we need so we can make a highly targeted request as opposed to a scatter-gun approach where we ask for a bit of everything?</a:t>
            </a:r>
            <a:endParaRPr/>
          </a:p>
          <a:p>
            <a:pPr marL="0" lvl="0" indent="0" algn="l" rtl="0">
              <a:lnSpc>
                <a:spcPct val="100000"/>
              </a:lnSpc>
              <a:spcBef>
                <a:spcPts val="0"/>
              </a:spcBef>
              <a:spcAft>
                <a:spcPts val="0"/>
              </a:spcAft>
              <a:buSzPts val="1400"/>
              <a:buNone/>
            </a:pPr>
            <a:endParaRPr b="1"/>
          </a:p>
          <a:p>
            <a:pPr marL="0" lvl="0" indent="0" algn="l" rtl="0">
              <a:lnSpc>
                <a:spcPct val="100000"/>
              </a:lnSpc>
              <a:spcBef>
                <a:spcPts val="0"/>
              </a:spcBef>
              <a:spcAft>
                <a:spcPts val="0"/>
              </a:spcAft>
              <a:buSzPts val="1400"/>
              <a:buNone/>
            </a:pPr>
            <a:endParaRPr b="1"/>
          </a:p>
        </p:txBody>
      </p:sp>
    </p:spTree>
    <p:extLst>
      <p:ext uri="{BB962C8B-B14F-4D97-AF65-F5344CB8AC3E}">
        <p14:creationId xmlns:p14="http://schemas.microsoft.com/office/powerpoint/2010/main" val="8861732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F9E74-8584-4213-1701-46E834EE4CE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B7E08D-CB21-9640-257E-634DF5001D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DD53670-CE1A-8227-6989-1531B04F2FAD}"/>
              </a:ext>
            </a:extLst>
          </p:cNvPr>
          <p:cNvSpPr>
            <a:spLocks noGrp="1"/>
          </p:cNvSpPr>
          <p:nvPr>
            <p:ph type="dt" sz="half" idx="10"/>
          </p:nvPr>
        </p:nvSpPr>
        <p:spPr/>
        <p:txBody>
          <a:bodyPr/>
          <a:lstStyle/>
          <a:p>
            <a:fld id="{733F02CF-2A44-443D-BAEB-FBF496450064}" type="datetimeFigureOut">
              <a:rPr lang="en-US" smtClean="0"/>
              <a:t>3/18/2026</a:t>
            </a:fld>
            <a:endParaRPr lang="en-US"/>
          </a:p>
        </p:txBody>
      </p:sp>
      <p:sp>
        <p:nvSpPr>
          <p:cNvPr id="5" name="Footer Placeholder 4">
            <a:extLst>
              <a:ext uri="{FF2B5EF4-FFF2-40B4-BE49-F238E27FC236}">
                <a16:creationId xmlns:a16="http://schemas.microsoft.com/office/drawing/2014/main" id="{17416456-620F-2B95-221F-4C7C4C53D0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D687BB-3FE6-8DC8-D3F4-88ACB8282F76}"/>
              </a:ext>
            </a:extLst>
          </p:cNvPr>
          <p:cNvSpPr>
            <a:spLocks noGrp="1"/>
          </p:cNvSpPr>
          <p:nvPr>
            <p:ph type="sldNum" sz="quarter" idx="12"/>
          </p:nvPr>
        </p:nvSpPr>
        <p:spPr/>
        <p:txBody>
          <a:bodyPr/>
          <a:lstStyle/>
          <a:p>
            <a:fld id="{4C68235E-3723-44ED-A60E-457CB36AB67F}" type="slidenum">
              <a:rPr lang="en-US" smtClean="0"/>
              <a:t>‹#›</a:t>
            </a:fld>
            <a:endParaRPr lang="en-US"/>
          </a:p>
        </p:txBody>
      </p:sp>
    </p:spTree>
    <p:extLst>
      <p:ext uri="{BB962C8B-B14F-4D97-AF65-F5344CB8AC3E}">
        <p14:creationId xmlns:p14="http://schemas.microsoft.com/office/powerpoint/2010/main" val="23250720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678B8-0B88-89D6-C40A-D38824600C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F03C4D-8DA2-014C-578F-8CF214C374C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C4E905-DEAA-2FDF-8431-0A711535FA22}"/>
              </a:ext>
            </a:extLst>
          </p:cNvPr>
          <p:cNvSpPr>
            <a:spLocks noGrp="1"/>
          </p:cNvSpPr>
          <p:nvPr>
            <p:ph type="dt" sz="half" idx="10"/>
          </p:nvPr>
        </p:nvSpPr>
        <p:spPr/>
        <p:txBody>
          <a:bodyPr/>
          <a:lstStyle/>
          <a:p>
            <a:fld id="{733F02CF-2A44-443D-BAEB-FBF496450064}" type="datetimeFigureOut">
              <a:rPr lang="en-US" smtClean="0"/>
              <a:t>3/18/2026</a:t>
            </a:fld>
            <a:endParaRPr lang="en-US"/>
          </a:p>
        </p:txBody>
      </p:sp>
      <p:sp>
        <p:nvSpPr>
          <p:cNvPr id="5" name="Footer Placeholder 4">
            <a:extLst>
              <a:ext uri="{FF2B5EF4-FFF2-40B4-BE49-F238E27FC236}">
                <a16:creationId xmlns:a16="http://schemas.microsoft.com/office/drawing/2014/main" id="{F1BA87C7-8DFA-0696-A99A-99E1EEB1B6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4FC004-952D-D6BB-6959-6EEC9F0DC1FA}"/>
              </a:ext>
            </a:extLst>
          </p:cNvPr>
          <p:cNvSpPr>
            <a:spLocks noGrp="1"/>
          </p:cNvSpPr>
          <p:nvPr>
            <p:ph type="sldNum" sz="quarter" idx="12"/>
          </p:nvPr>
        </p:nvSpPr>
        <p:spPr/>
        <p:txBody>
          <a:bodyPr/>
          <a:lstStyle/>
          <a:p>
            <a:fld id="{4C68235E-3723-44ED-A60E-457CB36AB67F}" type="slidenum">
              <a:rPr lang="en-US" smtClean="0"/>
              <a:t>‹#›</a:t>
            </a:fld>
            <a:endParaRPr lang="en-US"/>
          </a:p>
        </p:txBody>
      </p:sp>
    </p:spTree>
    <p:extLst>
      <p:ext uri="{BB962C8B-B14F-4D97-AF65-F5344CB8AC3E}">
        <p14:creationId xmlns:p14="http://schemas.microsoft.com/office/powerpoint/2010/main" val="3109760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FB53E-0D31-7E63-06E7-4DB81AE858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BAFF9D7-9465-3859-7C5A-D6C578D1B05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58C5E5-E8F6-C355-CEE7-C05A81504775}"/>
              </a:ext>
            </a:extLst>
          </p:cNvPr>
          <p:cNvSpPr>
            <a:spLocks noGrp="1"/>
          </p:cNvSpPr>
          <p:nvPr>
            <p:ph type="dt" sz="half" idx="10"/>
          </p:nvPr>
        </p:nvSpPr>
        <p:spPr/>
        <p:txBody>
          <a:bodyPr/>
          <a:lstStyle/>
          <a:p>
            <a:fld id="{733F02CF-2A44-443D-BAEB-FBF496450064}" type="datetimeFigureOut">
              <a:rPr lang="en-US" smtClean="0"/>
              <a:t>3/18/2026</a:t>
            </a:fld>
            <a:endParaRPr lang="en-US"/>
          </a:p>
        </p:txBody>
      </p:sp>
      <p:sp>
        <p:nvSpPr>
          <p:cNvPr id="5" name="Footer Placeholder 4">
            <a:extLst>
              <a:ext uri="{FF2B5EF4-FFF2-40B4-BE49-F238E27FC236}">
                <a16:creationId xmlns:a16="http://schemas.microsoft.com/office/drawing/2014/main" id="{E904119D-B279-31D9-11F9-A4589BA1BB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726027-E1F1-906D-1EB6-E6A50CFEB38F}"/>
              </a:ext>
            </a:extLst>
          </p:cNvPr>
          <p:cNvSpPr>
            <a:spLocks noGrp="1"/>
          </p:cNvSpPr>
          <p:nvPr>
            <p:ph type="sldNum" sz="quarter" idx="12"/>
          </p:nvPr>
        </p:nvSpPr>
        <p:spPr/>
        <p:txBody>
          <a:bodyPr/>
          <a:lstStyle/>
          <a:p>
            <a:fld id="{4C68235E-3723-44ED-A60E-457CB36AB67F}" type="slidenum">
              <a:rPr lang="en-US" smtClean="0"/>
              <a:t>‹#›</a:t>
            </a:fld>
            <a:endParaRPr lang="en-US"/>
          </a:p>
        </p:txBody>
      </p:sp>
    </p:spTree>
    <p:extLst>
      <p:ext uri="{BB962C8B-B14F-4D97-AF65-F5344CB8AC3E}">
        <p14:creationId xmlns:p14="http://schemas.microsoft.com/office/powerpoint/2010/main" val="22899235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C1FD8-53DF-ED4A-C18D-F4CF2E8019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FD3EBC0-FEE8-6457-BDA3-8038E599ED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8C13C8-2A33-17C1-71B6-BED8289047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9747718-ED35-F6A5-D667-31FF8394AC46}"/>
              </a:ext>
            </a:extLst>
          </p:cNvPr>
          <p:cNvSpPr>
            <a:spLocks noGrp="1"/>
          </p:cNvSpPr>
          <p:nvPr>
            <p:ph type="dt" sz="half" idx="10"/>
          </p:nvPr>
        </p:nvSpPr>
        <p:spPr/>
        <p:txBody>
          <a:bodyPr/>
          <a:lstStyle/>
          <a:p>
            <a:fld id="{733F02CF-2A44-443D-BAEB-FBF496450064}" type="datetimeFigureOut">
              <a:rPr lang="en-US" smtClean="0"/>
              <a:t>3/18/2026</a:t>
            </a:fld>
            <a:endParaRPr lang="en-US"/>
          </a:p>
        </p:txBody>
      </p:sp>
      <p:sp>
        <p:nvSpPr>
          <p:cNvPr id="6" name="Footer Placeholder 5">
            <a:extLst>
              <a:ext uri="{FF2B5EF4-FFF2-40B4-BE49-F238E27FC236}">
                <a16:creationId xmlns:a16="http://schemas.microsoft.com/office/drawing/2014/main" id="{FF24AB62-7962-3AF1-1CE1-9EDA91390D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454BC1-A5AF-64EB-824A-A1C7C667C0D6}"/>
              </a:ext>
            </a:extLst>
          </p:cNvPr>
          <p:cNvSpPr>
            <a:spLocks noGrp="1"/>
          </p:cNvSpPr>
          <p:nvPr>
            <p:ph type="sldNum" sz="quarter" idx="12"/>
          </p:nvPr>
        </p:nvSpPr>
        <p:spPr/>
        <p:txBody>
          <a:bodyPr/>
          <a:lstStyle/>
          <a:p>
            <a:fld id="{4C68235E-3723-44ED-A60E-457CB36AB67F}" type="slidenum">
              <a:rPr lang="en-US" smtClean="0"/>
              <a:t>‹#›</a:t>
            </a:fld>
            <a:endParaRPr lang="en-US"/>
          </a:p>
        </p:txBody>
      </p:sp>
    </p:spTree>
    <p:extLst>
      <p:ext uri="{BB962C8B-B14F-4D97-AF65-F5344CB8AC3E}">
        <p14:creationId xmlns:p14="http://schemas.microsoft.com/office/powerpoint/2010/main" val="15511639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9DE02-98BE-ED7C-A890-D4AB55CB75C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4A2B03F-A0EF-2C9B-C70B-CB11577D32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59263BF-F90E-0194-131F-1A8B039FE2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AE3FE72-7B73-2EDD-718C-EB0119A321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72C0337-04C8-A423-CCB6-40CF7627516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6994269-C970-D04A-7922-CBDF9CEE5A34}"/>
              </a:ext>
            </a:extLst>
          </p:cNvPr>
          <p:cNvSpPr>
            <a:spLocks noGrp="1"/>
          </p:cNvSpPr>
          <p:nvPr>
            <p:ph type="dt" sz="half" idx="10"/>
          </p:nvPr>
        </p:nvSpPr>
        <p:spPr/>
        <p:txBody>
          <a:bodyPr/>
          <a:lstStyle/>
          <a:p>
            <a:fld id="{733F02CF-2A44-443D-BAEB-FBF496450064}" type="datetimeFigureOut">
              <a:rPr lang="en-US" smtClean="0"/>
              <a:t>3/18/2026</a:t>
            </a:fld>
            <a:endParaRPr lang="en-US"/>
          </a:p>
        </p:txBody>
      </p:sp>
      <p:sp>
        <p:nvSpPr>
          <p:cNvPr id="8" name="Footer Placeholder 7">
            <a:extLst>
              <a:ext uri="{FF2B5EF4-FFF2-40B4-BE49-F238E27FC236}">
                <a16:creationId xmlns:a16="http://schemas.microsoft.com/office/drawing/2014/main" id="{B92B90DC-01E5-9404-4496-5CD4959CA2C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0A38E54-6608-4A66-4D12-08D3CF4D35F0}"/>
              </a:ext>
            </a:extLst>
          </p:cNvPr>
          <p:cNvSpPr>
            <a:spLocks noGrp="1"/>
          </p:cNvSpPr>
          <p:nvPr>
            <p:ph type="sldNum" sz="quarter" idx="12"/>
          </p:nvPr>
        </p:nvSpPr>
        <p:spPr/>
        <p:txBody>
          <a:bodyPr/>
          <a:lstStyle/>
          <a:p>
            <a:fld id="{4C68235E-3723-44ED-A60E-457CB36AB67F}" type="slidenum">
              <a:rPr lang="en-US" smtClean="0"/>
              <a:t>‹#›</a:t>
            </a:fld>
            <a:endParaRPr lang="en-US"/>
          </a:p>
        </p:txBody>
      </p:sp>
    </p:spTree>
    <p:extLst>
      <p:ext uri="{BB962C8B-B14F-4D97-AF65-F5344CB8AC3E}">
        <p14:creationId xmlns:p14="http://schemas.microsoft.com/office/powerpoint/2010/main" val="18196654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C2EF1-D912-006A-FD94-7C6C5B5EB66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F392989-20AB-464D-5099-EC755314DA77}"/>
              </a:ext>
            </a:extLst>
          </p:cNvPr>
          <p:cNvSpPr>
            <a:spLocks noGrp="1"/>
          </p:cNvSpPr>
          <p:nvPr>
            <p:ph type="dt" sz="half" idx="10"/>
          </p:nvPr>
        </p:nvSpPr>
        <p:spPr/>
        <p:txBody>
          <a:bodyPr/>
          <a:lstStyle/>
          <a:p>
            <a:fld id="{733F02CF-2A44-443D-BAEB-FBF496450064}" type="datetimeFigureOut">
              <a:rPr lang="en-US" smtClean="0"/>
              <a:t>3/18/2026</a:t>
            </a:fld>
            <a:endParaRPr lang="en-US"/>
          </a:p>
        </p:txBody>
      </p:sp>
      <p:sp>
        <p:nvSpPr>
          <p:cNvPr id="4" name="Footer Placeholder 3">
            <a:extLst>
              <a:ext uri="{FF2B5EF4-FFF2-40B4-BE49-F238E27FC236}">
                <a16:creationId xmlns:a16="http://schemas.microsoft.com/office/drawing/2014/main" id="{42DD5579-CEA7-11AE-D278-528DF669BE6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7D0BA2D-8E5D-4102-9369-59A7B2B51DB4}"/>
              </a:ext>
            </a:extLst>
          </p:cNvPr>
          <p:cNvSpPr>
            <a:spLocks noGrp="1"/>
          </p:cNvSpPr>
          <p:nvPr>
            <p:ph type="sldNum" sz="quarter" idx="12"/>
          </p:nvPr>
        </p:nvSpPr>
        <p:spPr/>
        <p:txBody>
          <a:bodyPr/>
          <a:lstStyle/>
          <a:p>
            <a:fld id="{4C68235E-3723-44ED-A60E-457CB36AB67F}" type="slidenum">
              <a:rPr lang="en-US" smtClean="0"/>
              <a:t>‹#›</a:t>
            </a:fld>
            <a:endParaRPr lang="en-US"/>
          </a:p>
        </p:txBody>
      </p:sp>
    </p:spTree>
    <p:extLst>
      <p:ext uri="{BB962C8B-B14F-4D97-AF65-F5344CB8AC3E}">
        <p14:creationId xmlns:p14="http://schemas.microsoft.com/office/powerpoint/2010/main" val="14686853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CEC5D2-8457-5725-0B3E-81F0938D9F47}"/>
              </a:ext>
            </a:extLst>
          </p:cNvPr>
          <p:cNvSpPr>
            <a:spLocks noGrp="1"/>
          </p:cNvSpPr>
          <p:nvPr>
            <p:ph type="dt" sz="half" idx="10"/>
          </p:nvPr>
        </p:nvSpPr>
        <p:spPr/>
        <p:txBody>
          <a:bodyPr/>
          <a:lstStyle/>
          <a:p>
            <a:fld id="{733F02CF-2A44-443D-BAEB-FBF496450064}" type="datetimeFigureOut">
              <a:rPr lang="en-US" smtClean="0"/>
              <a:t>3/18/2026</a:t>
            </a:fld>
            <a:endParaRPr lang="en-US"/>
          </a:p>
        </p:txBody>
      </p:sp>
      <p:sp>
        <p:nvSpPr>
          <p:cNvPr id="3" name="Footer Placeholder 2">
            <a:extLst>
              <a:ext uri="{FF2B5EF4-FFF2-40B4-BE49-F238E27FC236}">
                <a16:creationId xmlns:a16="http://schemas.microsoft.com/office/drawing/2014/main" id="{D3D061E2-8CB0-1775-70E9-8B07FABFE19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1669FE8-E43C-3F48-7B73-77E3DC910448}"/>
              </a:ext>
            </a:extLst>
          </p:cNvPr>
          <p:cNvSpPr>
            <a:spLocks noGrp="1"/>
          </p:cNvSpPr>
          <p:nvPr>
            <p:ph type="sldNum" sz="quarter" idx="12"/>
          </p:nvPr>
        </p:nvSpPr>
        <p:spPr/>
        <p:txBody>
          <a:bodyPr/>
          <a:lstStyle/>
          <a:p>
            <a:fld id="{4C68235E-3723-44ED-A60E-457CB36AB67F}" type="slidenum">
              <a:rPr lang="en-US" smtClean="0"/>
              <a:t>‹#›</a:t>
            </a:fld>
            <a:endParaRPr lang="en-US"/>
          </a:p>
        </p:txBody>
      </p:sp>
    </p:spTree>
    <p:extLst>
      <p:ext uri="{BB962C8B-B14F-4D97-AF65-F5344CB8AC3E}">
        <p14:creationId xmlns:p14="http://schemas.microsoft.com/office/powerpoint/2010/main" val="8284275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E6C1C-100E-3932-1AC2-D819218B11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9F4B478-4309-3B91-F820-07DA0D234A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FB14A49-201F-ABCA-DBDE-8E8B8527F9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418A88-AA95-7B41-ADD2-A5CB25C27E6A}"/>
              </a:ext>
            </a:extLst>
          </p:cNvPr>
          <p:cNvSpPr>
            <a:spLocks noGrp="1"/>
          </p:cNvSpPr>
          <p:nvPr>
            <p:ph type="dt" sz="half" idx="10"/>
          </p:nvPr>
        </p:nvSpPr>
        <p:spPr/>
        <p:txBody>
          <a:bodyPr/>
          <a:lstStyle/>
          <a:p>
            <a:fld id="{733F02CF-2A44-443D-BAEB-FBF496450064}" type="datetimeFigureOut">
              <a:rPr lang="en-US" smtClean="0"/>
              <a:t>3/18/2026</a:t>
            </a:fld>
            <a:endParaRPr lang="en-US"/>
          </a:p>
        </p:txBody>
      </p:sp>
      <p:sp>
        <p:nvSpPr>
          <p:cNvPr id="6" name="Footer Placeholder 5">
            <a:extLst>
              <a:ext uri="{FF2B5EF4-FFF2-40B4-BE49-F238E27FC236}">
                <a16:creationId xmlns:a16="http://schemas.microsoft.com/office/drawing/2014/main" id="{7CCA4011-CC28-5A27-4523-82F5FB2E67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F4AC56-A55F-336C-4186-6A009AC51268}"/>
              </a:ext>
            </a:extLst>
          </p:cNvPr>
          <p:cNvSpPr>
            <a:spLocks noGrp="1"/>
          </p:cNvSpPr>
          <p:nvPr>
            <p:ph type="sldNum" sz="quarter" idx="12"/>
          </p:nvPr>
        </p:nvSpPr>
        <p:spPr/>
        <p:txBody>
          <a:bodyPr/>
          <a:lstStyle/>
          <a:p>
            <a:fld id="{4C68235E-3723-44ED-A60E-457CB36AB67F}" type="slidenum">
              <a:rPr lang="en-US" smtClean="0"/>
              <a:t>‹#›</a:t>
            </a:fld>
            <a:endParaRPr lang="en-US"/>
          </a:p>
        </p:txBody>
      </p:sp>
    </p:spTree>
    <p:extLst>
      <p:ext uri="{BB962C8B-B14F-4D97-AF65-F5344CB8AC3E}">
        <p14:creationId xmlns:p14="http://schemas.microsoft.com/office/powerpoint/2010/main" val="22407667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E939A-9763-9676-2410-E3C3B18CE7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E6DEB4E-87E3-3F20-21F6-7DDD230B34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707D6DD-C052-2A50-52B7-A696D05A40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6A9465-10AC-BB16-A324-F95035C5A2D1}"/>
              </a:ext>
            </a:extLst>
          </p:cNvPr>
          <p:cNvSpPr>
            <a:spLocks noGrp="1"/>
          </p:cNvSpPr>
          <p:nvPr>
            <p:ph type="dt" sz="half" idx="10"/>
          </p:nvPr>
        </p:nvSpPr>
        <p:spPr/>
        <p:txBody>
          <a:bodyPr/>
          <a:lstStyle/>
          <a:p>
            <a:fld id="{733F02CF-2A44-443D-BAEB-FBF496450064}" type="datetimeFigureOut">
              <a:rPr lang="en-US" smtClean="0"/>
              <a:t>3/18/2026</a:t>
            </a:fld>
            <a:endParaRPr lang="en-US"/>
          </a:p>
        </p:txBody>
      </p:sp>
      <p:sp>
        <p:nvSpPr>
          <p:cNvPr id="6" name="Footer Placeholder 5">
            <a:extLst>
              <a:ext uri="{FF2B5EF4-FFF2-40B4-BE49-F238E27FC236}">
                <a16:creationId xmlns:a16="http://schemas.microsoft.com/office/drawing/2014/main" id="{92B689D6-F055-13D6-4273-F20E3F544D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DCD21A-B869-9607-F0E8-38D3818B9545}"/>
              </a:ext>
            </a:extLst>
          </p:cNvPr>
          <p:cNvSpPr>
            <a:spLocks noGrp="1"/>
          </p:cNvSpPr>
          <p:nvPr>
            <p:ph type="sldNum" sz="quarter" idx="12"/>
          </p:nvPr>
        </p:nvSpPr>
        <p:spPr/>
        <p:txBody>
          <a:bodyPr/>
          <a:lstStyle/>
          <a:p>
            <a:fld id="{4C68235E-3723-44ED-A60E-457CB36AB67F}" type="slidenum">
              <a:rPr lang="en-US" smtClean="0"/>
              <a:t>‹#›</a:t>
            </a:fld>
            <a:endParaRPr lang="en-US"/>
          </a:p>
        </p:txBody>
      </p:sp>
    </p:spTree>
    <p:extLst>
      <p:ext uri="{BB962C8B-B14F-4D97-AF65-F5344CB8AC3E}">
        <p14:creationId xmlns:p14="http://schemas.microsoft.com/office/powerpoint/2010/main" val="27344294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EFB18-1495-EC3A-CF11-EAEFCC1B62C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56937D7-5FFE-A0B0-8066-C15BDDB00C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79ABA4-50EA-85C2-E854-BB094CDF4406}"/>
              </a:ext>
            </a:extLst>
          </p:cNvPr>
          <p:cNvSpPr>
            <a:spLocks noGrp="1"/>
          </p:cNvSpPr>
          <p:nvPr>
            <p:ph type="dt" sz="half" idx="10"/>
          </p:nvPr>
        </p:nvSpPr>
        <p:spPr/>
        <p:txBody>
          <a:bodyPr/>
          <a:lstStyle/>
          <a:p>
            <a:fld id="{733F02CF-2A44-443D-BAEB-FBF496450064}" type="datetimeFigureOut">
              <a:rPr lang="en-US" smtClean="0"/>
              <a:t>3/18/2026</a:t>
            </a:fld>
            <a:endParaRPr lang="en-US"/>
          </a:p>
        </p:txBody>
      </p:sp>
      <p:sp>
        <p:nvSpPr>
          <p:cNvPr id="5" name="Footer Placeholder 4">
            <a:extLst>
              <a:ext uri="{FF2B5EF4-FFF2-40B4-BE49-F238E27FC236}">
                <a16:creationId xmlns:a16="http://schemas.microsoft.com/office/drawing/2014/main" id="{DA1E427B-3F2B-EB38-09FE-19C9AF423F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108A5D-920F-F98C-B688-9A12F2D1A84D}"/>
              </a:ext>
            </a:extLst>
          </p:cNvPr>
          <p:cNvSpPr>
            <a:spLocks noGrp="1"/>
          </p:cNvSpPr>
          <p:nvPr>
            <p:ph type="sldNum" sz="quarter" idx="12"/>
          </p:nvPr>
        </p:nvSpPr>
        <p:spPr/>
        <p:txBody>
          <a:bodyPr/>
          <a:lstStyle/>
          <a:p>
            <a:fld id="{4C68235E-3723-44ED-A60E-457CB36AB67F}" type="slidenum">
              <a:rPr lang="en-US" smtClean="0"/>
              <a:t>‹#›</a:t>
            </a:fld>
            <a:endParaRPr lang="en-US"/>
          </a:p>
        </p:txBody>
      </p:sp>
    </p:spTree>
    <p:extLst>
      <p:ext uri="{BB962C8B-B14F-4D97-AF65-F5344CB8AC3E}">
        <p14:creationId xmlns:p14="http://schemas.microsoft.com/office/powerpoint/2010/main" val="34647196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728370D-DB3D-EA50-73A3-DF1B64AEF6F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EA0AF40-CAAF-C159-734F-1099B934FB7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8C6352-838F-6B07-83D1-5E70482F993E}"/>
              </a:ext>
            </a:extLst>
          </p:cNvPr>
          <p:cNvSpPr>
            <a:spLocks noGrp="1"/>
          </p:cNvSpPr>
          <p:nvPr>
            <p:ph type="dt" sz="half" idx="10"/>
          </p:nvPr>
        </p:nvSpPr>
        <p:spPr/>
        <p:txBody>
          <a:bodyPr/>
          <a:lstStyle/>
          <a:p>
            <a:fld id="{733F02CF-2A44-443D-BAEB-FBF496450064}" type="datetimeFigureOut">
              <a:rPr lang="en-US" smtClean="0"/>
              <a:t>3/18/2026</a:t>
            </a:fld>
            <a:endParaRPr lang="en-US"/>
          </a:p>
        </p:txBody>
      </p:sp>
      <p:sp>
        <p:nvSpPr>
          <p:cNvPr id="5" name="Footer Placeholder 4">
            <a:extLst>
              <a:ext uri="{FF2B5EF4-FFF2-40B4-BE49-F238E27FC236}">
                <a16:creationId xmlns:a16="http://schemas.microsoft.com/office/drawing/2014/main" id="{A3DA9284-1E74-AE5F-F39B-C1968C09D0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87AC7F-B8FE-F593-9B35-C05E25893906}"/>
              </a:ext>
            </a:extLst>
          </p:cNvPr>
          <p:cNvSpPr>
            <a:spLocks noGrp="1"/>
          </p:cNvSpPr>
          <p:nvPr>
            <p:ph type="sldNum" sz="quarter" idx="12"/>
          </p:nvPr>
        </p:nvSpPr>
        <p:spPr/>
        <p:txBody>
          <a:bodyPr/>
          <a:lstStyle/>
          <a:p>
            <a:fld id="{4C68235E-3723-44ED-A60E-457CB36AB67F}" type="slidenum">
              <a:rPr lang="en-US" smtClean="0"/>
              <a:t>‹#›</a:t>
            </a:fld>
            <a:endParaRPr lang="en-US"/>
          </a:p>
        </p:txBody>
      </p:sp>
    </p:spTree>
    <p:extLst>
      <p:ext uri="{BB962C8B-B14F-4D97-AF65-F5344CB8AC3E}">
        <p14:creationId xmlns:p14="http://schemas.microsoft.com/office/powerpoint/2010/main" val="32518316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233261" y="234864"/>
            <a:ext cx="11725484" cy="29832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9597762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1C9803-2EE7-172C-B6DF-ED33608293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A95D81E-5608-2395-5E2E-E0D3AA4C17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5D1B41-E055-2AC8-EE9E-AA706FCA2A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33F02CF-2A44-443D-BAEB-FBF496450064}" type="datetimeFigureOut">
              <a:rPr lang="en-US" smtClean="0"/>
              <a:t>3/18/2026</a:t>
            </a:fld>
            <a:endParaRPr lang="en-US"/>
          </a:p>
        </p:txBody>
      </p:sp>
      <p:sp>
        <p:nvSpPr>
          <p:cNvPr id="5" name="Footer Placeholder 4">
            <a:extLst>
              <a:ext uri="{FF2B5EF4-FFF2-40B4-BE49-F238E27FC236}">
                <a16:creationId xmlns:a16="http://schemas.microsoft.com/office/drawing/2014/main" id="{F0A207E3-EDF3-3B73-0086-603B6C533D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BF33382-5B72-750C-D2E5-E74A4793D2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C68235E-3723-44ED-A60E-457CB36AB67F}" type="slidenum">
              <a:rPr lang="en-US" smtClean="0"/>
              <a:t>‹#›</a:t>
            </a:fld>
            <a:endParaRPr lang="en-US"/>
          </a:p>
        </p:txBody>
      </p:sp>
    </p:spTree>
    <p:extLst>
      <p:ext uri="{BB962C8B-B14F-4D97-AF65-F5344CB8AC3E}">
        <p14:creationId xmlns:p14="http://schemas.microsoft.com/office/powerpoint/2010/main" val="23696237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basveeling/pcam"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
          <a:extLst>
            <a:ext uri="{FF2B5EF4-FFF2-40B4-BE49-F238E27FC236}">
              <a16:creationId xmlns:a16="http://schemas.microsoft.com/office/drawing/2014/main" id="{69508DF5-0360-4B11-AC33-2D1CA2914BAD}"/>
            </a:ext>
          </a:extLst>
        </p:cNvPr>
        <p:cNvGrpSpPr/>
        <p:nvPr/>
      </p:nvGrpSpPr>
      <p:grpSpPr>
        <a:xfrm>
          <a:off x="0" y="0"/>
          <a:ext cx="0" cy="0"/>
          <a:chOff x="0" y="0"/>
          <a:chExt cx="0" cy="0"/>
        </a:xfrm>
      </p:grpSpPr>
      <p:sp>
        <p:nvSpPr>
          <p:cNvPr id="20" name="Google Shape;20;p1">
            <a:extLst>
              <a:ext uri="{FF2B5EF4-FFF2-40B4-BE49-F238E27FC236}">
                <a16:creationId xmlns:a16="http://schemas.microsoft.com/office/drawing/2014/main" id="{CA8845FF-645F-1936-03FE-46795AF6450C}"/>
              </a:ext>
            </a:extLst>
          </p:cNvPr>
          <p:cNvSpPr/>
          <p:nvPr/>
        </p:nvSpPr>
        <p:spPr>
          <a:xfrm>
            <a:off x="1661949" y="1576014"/>
            <a:ext cx="8393229" cy="4681063"/>
          </a:xfrm>
          <a:prstGeom prst="rect">
            <a:avLst/>
          </a:prstGeom>
          <a:solidFill>
            <a:schemeClr val="lt1"/>
          </a:solidFill>
          <a:ln w="1905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a:buClr>
                <a:srgbClr val="000000"/>
              </a:buClr>
              <a:buSzPts val="1428"/>
            </a:pPr>
            <a:endParaRPr sz="1428">
              <a:solidFill>
                <a:srgbClr val="000000"/>
              </a:solidFill>
              <a:latin typeface="Arial"/>
              <a:ea typeface="Arial"/>
              <a:cs typeface="Arial"/>
              <a:sym typeface="Arial"/>
            </a:endParaRPr>
          </a:p>
        </p:txBody>
      </p:sp>
      <p:sp>
        <p:nvSpPr>
          <p:cNvPr id="21" name="Google Shape;21;p1">
            <a:extLst>
              <a:ext uri="{FF2B5EF4-FFF2-40B4-BE49-F238E27FC236}">
                <a16:creationId xmlns:a16="http://schemas.microsoft.com/office/drawing/2014/main" id="{25477E12-017C-A850-EA8A-ECA6BA11F021}"/>
              </a:ext>
            </a:extLst>
          </p:cNvPr>
          <p:cNvSpPr txBox="1"/>
          <p:nvPr/>
        </p:nvSpPr>
        <p:spPr>
          <a:xfrm>
            <a:off x="1667108" y="1964976"/>
            <a:ext cx="8135602" cy="1585022"/>
          </a:xfrm>
          <a:prstGeom prst="rect">
            <a:avLst/>
          </a:prstGeom>
          <a:noFill/>
          <a:ln>
            <a:noFill/>
          </a:ln>
        </p:spPr>
        <p:txBody>
          <a:bodyPr spcFirstLastPara="1" wrap="square" lIns="91425" tIns="45700" rIns="91425" bIns="45700" anchor="t" anchorCtr="0">
            <a:noAutofit/>
          </a:bodyPr>
          <a:lstStyle/>
          <a:p>
            <a:pPr algn="just">
              <a:buClr>
                <a:srgbClr val="000000"/>
              </a:buClr>
              <a:buSzPts val="1070"/>
            </a:pPr>
            <a:r>
              <a:rPr lang="en-AU" sz="1070" dirty="0">
                <a:solidFill>
                  <a:srgbClr val="000000"/>
                </a:solidFill>
                <a:latin typeface="Arial"/>
                <a:ea typeface="Arial"/>
                <a:cs typeface="Arial"/>
                <a:sym typeface="Arial"/>
              </a:rPr>
              <a:t>Until recently, histology images of tissue samples were a way for doctors to diagnose their patients for cancer. These images were diagnosed using human eyes, as good as they are, have their limitations. They can become tired after looking at many images and thus may lead to misdiagnosis. To alleviate this issue, it is possible to use Machine Learning to categorize these images as cancerous or non-cancerous. With machine learning, the issues that can come along with human interpretation of very complicated images may not be an issue any longer.</a:t>
            </a:r>
            <a:endParaRPr sz="1400" dirty="0">
              <a:solidFill>
                <a:srgbClr val="000000"/>
              </a:solidFill>
              <a:latin typeface="Arial"/>
              <a:ea typeface="Arial"/>
              <a:cs typeface="Arial"/>
              <a:sym typeface="Arial"/>
            </a:endParaRPr>
          </a:p>
        </p:txBody>
      </p:sp>
      <p:sp>
        <p:nvSpPr>
          <p:cNvPr id="22" name="Google Shape;22;p1">
            <a:extLst>
              <a:ext uri="{FF2B5EF4-FFF2-40B4-BE49-F238E27FC236}">
                <a16:creationId xmlns:a16="http://schemas.microsoft.com/office/drawing/2014/main" id="{57FFBA75-CFED-C2CD-F118-B2F664EF1F99}"/>
              </a:ext>
            </a:extLst>
          </p:cNvPr>
          <p:cNvSpPr/>
          <p:nvPr/>
        </p:nvSpPr>
        <p:spPr>
          <a:xfrm>
            <a:off x="1742937" y="1618128"/>
            <a:ext cx="288315" cy="288315"/>
          </a:xfrm>
          <a:prstGeom prst="rect">
            <a:avLst/>
          </a:prstGeom>
          <a:solidFill>
            <a:srgbClr val="F1A205"/>
          </a:solidFill>
          <a:ln>
            <a:noFill/>
          </a:ln>
        </p:spPr>
        <p:txBody>
          <a:bodyPr spcFirstLastPara="1" wrap="square" lIns="47575" tIns="47575" rIns="47575" bIns="47575" anchor="ctr" anchorCtr="0">
            <a:noAutofit/>
          </a:bodyPr>
          <a:lstStyle/>
          <a:p>
            <a:pPr>
              <a:buClr>
                <a:srgbClr val="000000"/>
              </a:buClr>
              <a:buSzPts val="1428"/>
            </a:pPr>
            <a:r>
              <a:rPr lang="en-AU" sz="1428">
                <a:solidFill>
                  <a:schemeClr val="lt1"/>
                </a:solidFill>
                <a:latin typeface="Arial"/>
                <a:ea typeface="Arial"/>
                <a:cs typeface="Arial"/>
                <a:sym typeface="Arial"/>
              </a:rPr>
              <a:t>1</a:t>
            </a:r>
            <a:endParaRPr sz="1428">
              <a:solidFill>
                <a:schemeClr val="lt1"/>
              </a:solidFill>
              <a:latin typeface="Arial"/>
              <a:ea typeface="Arial"/>
              <a:cs typeface="Arial"/>
              <a:sym typeface="Arial"/>
            </a:endParaRPr>
          </a:p>
        </p:txBody>
      </p:sp>
      <p:sp>
        <p:nvSpPr>
          <p:cNvPr id="23" name="Google Shape;23;p1">
            <a:extLst>
              <a:ext uri="{FF2B5EF4-FFF2-40B4-BE49-F238E27FC236}">
                <a16:creationId xmlns:a16="http://schemas.microsoft.com/office/drawing/2014/main" id="{CAA5A399-E238-FB92-CEC9-CFE89F85148A}"/>
              </a:ext>
            </a:extLst>
          </p:cNvPr>
          <p:cNvSpPr/>
          <p:nvPr/>
        </p:nvSpPr>
        <p:spPr>
          <a:xfrm>
            <a:off x="2125195" y="1650182"/>
            <a:ext cx="3597454" cy="224203"/>
          </a:xfrm>
          <a:prstGeom prst="rect">
            <a:avLst/>
          </a:prstGeom>
          <a:noFill/>
          <a:ln>
            <a:noFill/>
          </a:ln>
        </p:spPr>
        <p:txBody>
          <a:bodyPr spcFirstLastPara="1" wrap="square" lIns="0" tIns="0" rIns="0" bIns="0" anchor="ctr" anchorCtr="0">
            <a:noAutofit/>
          </a:bodyPr>
          <a:lstStyle/>
          <a:p>
            <a:pPr>
              <a:buClr>
                <a:srgbClr val="000000"/>
              </a:buClr>
              <a:buSzPts val="1428"/>
            </a:pPr>
            <a:r>
              <a:rPr lang="en-AU" sz="1428">
                <a:solidFill>
                  <a:schemeClr val="dk1"/>
                </a:solidFill>
                <a:latin typeface="Arial"/>
                <a:ea typeface="Arial"/>
                <a:cs typeface="Arial"/>
                <a:sym typeface="Arial"/>
              </a:rPr>
              <a:t>Context</a:t>
            </a:r>
            <a:endParaRPr sz="1400">
              <a:solidFill>
                <a:srgbClr val="000000"/>
              </a:solidFill>
              <a:latin typeface="Arial"/>
              <a:ea typeface="Arial"/>
              <a:cs typeface="Arial"/>
              <a:sym typeface="Arial"/>
            </a:endParaRPr>
          </a:p>
        </p:txBody>
      </p:sp>
      <p:sp>
        <p:nvSpPr>
          <p:cNvPr id="24" name="Google Shape;24;p1">
            <a:extLst>
              <a:ext uri="{FF2B5EF4-FFF2-40B4-BE49-F238E27FC236}">
                <a16:creationId xmlns:a16="http://schemas.microsoft.com/office/drawing/2014/main" id="{89E69360-C7DD-C74D-64CB-43ED325154FF}"/>
              </a:ext>
            </a:extLst>
          </p:cNvPr>
          <p:cNvSpPr/>
          <p:nvPr/>
        </p:nvSpPr>
        <p:spPr>
          <a:xfrm>
            <a:off x="1742937" y="2928258"/>
            <a:ext cx="288315" cy="288315"/>
          </a:xfrm>
          <a:prstGeom prst="rect">
            <a:avLst/>
          </a:prstGeom>
          <a:solidFill>
            <a:srgbClr val="F1A205"/>
          </a:solidFill>
          <a:ln>
            <a:noFill/>
          </a:ln>
        </p:spPr>
        <p:txBody>
          <a:bodyPr spcFirstLastPara="1" wrap="square" lIns="47575" tIns="47575" rIns="47575" bIns="47575" anchor="ctr" anchorCtr="0">
            <a:noAutofit/>
          </a:bodyPr>
          <a:lstStyle/>
          <a:p>
            <a:pPr>
              <a:buClr>
                <a:srgbClr val="000000"/>
              </a:buClr>
              <a:buSzPts val="1428"/>
            </a:pPr>
            <a:r>
              <a:rPr lang="en-AU" sz="1428">
                <a:solidFill>
                  <a:schemeClr val="lt1"/>
                </a:solidFill>
                <a:latin typeface="Arial"/>
                <a:ea typeface="Arial"/>
                <a:cs typeface="Arial"/>
                <a:sym typeface="Arial"/>
              </a:rPr>
              <a:t>2</a:t>
            </a:r>
            <a:endParaRPr sz="1400">
              <a:solidFill>
                <a:srgbClr val="000000"/>
              </a:solidFill>
              <a:latin typeface="Arial"/>
              <a:ea typeface="Arial"/>
              <a:cs typeface="Arial"/>
              <a:sym typeface="Arial"/>
            </a:endParaRPr>
          </a:p>
        </p:txBody>
      </p:sp>
      <p:sp>
        <p:nvSpPr>
          <p:cNvPr id="25" name="Google Shape;25;p1">
            <a:extLst>
              <a:ext uri="{FF2B5EF4-FFF2-40B4-BE49-F238E27FC236}">
                <a16:creationId xmlns:a16="http://schemas.microsoft.com/office/drawing/2014/main" id="{262865F6-7334-1CD8-4184-39F2F20A5EA3}"/>
              </a:ext>
            </a:extLst>
          </p:cNvPr>
          <p:cNvSpPr/>
          <p:nvPr/>
        </p:nvSpPr>
        <p:spPr>
          <a:xfrm>
            <a:off x="2125195" y="2960314"/>
            <a:ext cx="3597454" cy="224203"/>
          </a:xfrm>
          <a:prstGeom prst="rect">
            <a:avLst/>
          </a:prstGeom>
          <a:noFill/>
          <a:ln>
            <a:noFill/>
          </a:ln>
        </p:spPr>
        <p:txBody>
          <a:bodyPr spcFirstLastPara="1" wrap="square" lIns="0" tIns="0" rIns="0" bIns="0" anchor="ctr" anchorCtr="0">
            <a:noAutofit/>
          </a:bodyPr>
          <a:lstStyle/>
          <a:p>
            <a:pPr>
              <a:buClr>
                <a:srgbClr val="000000"/>
              </a:buClr>
              <a:buSzPts val="1428"/>
            </a:pPr>
            <a:r>
              <a:rPr lang="en-AU" sz="1428">
                <a:solidFill>
                  <a:schemeClr val="dk1"/>
                </a:solidFill>
                <a:latin typeface="Arial"/>
                <a:ea typeface="Arial"/>
                <a:cs typeface="Arial"/>
                <a:sym typeface="Arial"/>
              </a:rPr>
              <a:t>Criteria for success</a:t>
            </a:r>
            <a:endParaRPr sz="1400">
              <a:solidFill>
                <a:srgbClr val="000000"/>
              </a:solidFill>
              <a:latin typeface="Arial"/>
              <a:ea typeface="Arial"/>
              <a:cs typeface="Arial"/>
              <a:sym typeface="Arial"/>
            </a:endParaRPr>
          </a:p>
        </p:txBody>
      </p:sp>
      <p:sp>
        <p:nvSpPr>
          <p:cNvPr id="26" name="Google Shape;26;p1">
            <a:extLst>
              <a:ext uri="{FF2B5EF4-FFF2-40B4-BE49-F238E27FC236}">
                <a16:creationId xmlns:a16="http://schemas.microsoft.com/office/drawing/2014/main" id="{1767D7D1-BD9A-2FEF-7E66-AF4AD1F5E0EE}"/>
              </a:ext>
            </a:extLst>
          </p:cNvPr>
          <p:cNvSpPr/>
          <p:nvPr/>
        </p:nvSpPr>
        <p:spPr>
          <a:xfrm>
            <a:off x="1742937" y="4037522"/>
            <a:ext cx="288315" cy="288315"/>
          </a:xfrm>
          <a:prstGeom prst="rect">
            <a:avLst/>
          </a:prstGeom>
          <a:solidFill>
            <a:srgbClr val="F1A205"/>
          </a:solidFill>
          <a:ln>
            <a:noFill/>
          </a:ln>
        </p:spPr>
        <p:txBody>
          <a:bodyPr spcFirstLastPara="1" wrap="square" lIns="47575" tIns="47575" rIns="47575" bIns="47575" anchor="ctr" anchorCtr="0">
            <a:noAutofit/>
          </a:bodyPr>
          <a:lstStyle/>
          <a:p>
            <a:pPr>
              <a:buClr>
                <a:srgbClr val="000000"/>
              </a:buClr>
              <a:buSzPts val="1428"/>
            </a:pPr>
            <a:r>
              <a:rPr lang="en-AU" sz="1428">
                <a:solidFill>
                  <a:schemeClr val="lt1"/>
                </a:solidFill>
                <a:latin typeface="Arial"/>
                <a:ea typeface="Arial"/>
                <a:cs typeface="Arial"/>
                <a:sym typeface="Arial"/>
              </a:rPr>
              <a:t>3</a:t>
            </a:r>
            <a:endParaRPr sz="1400">
              <a:solidFill>
                <a:srgbClr val="000000"/>
              </a:solidFill>
              <a:latin typeface="Arial"/>
              <a:ea typeface="Arial"/>
              <a:cs typeface="Arial"/>
              <a:sym typeface="Arial"/>
            </a:endParaRPr>
          </a:p>
        </p:txBody>
      </p:sp>
      <p:sp>
        <p:nvSpPr>
          <p:cNvPr id="27" name="Google Shape;27;p1">
            <a:extLst>
              <a:ext uri="{FF2B5EF4-FFF2-40B4-BE49-F238E27FC236}">
                <a16:creationId xmlns:a16="http://schemas.microsoft.com/office/drawing/2014/main" id="{A6E8073D-B175-CE8A-4CC1-DA67E3670785}"/>
              </a:ext>
            </a:extLst>
          </p:cNvPr>
          <p:cNvSpPr/>
          <p:nvPr/>
        </p:nvSpPr>
        <p:spPr>
          <a:xfrm>
            <a:off x="2125195" y="4071808"/>
            <a:ext cx="3597454" cy="219740"/>
          </a:xfrm>
          <a:prstGeom prst="rect">
            <a:avLst/>
          </a:prstGeom>
          <a:noFill/>
          <a:ln>
            <a:noFill/>
          </a:ln>
        </p:spPr>
        <p:txBody>
          <a:bodyPr spcFirstLastPara="1" wrap="square" lIns="0" tIns="0" rIns="0" bIns="0" anchor="ctr" anchorCtr="0">
            <a:noAutofit/>
          </a:bodyPr>
          <a:lstStyle/>
          <a:p>
            <a:pPr>
              <a:buClr>
                <a:srgbClr val="000000"/>
              </a:buClr>
              <a:buSzPts val="1428"/>
            </a:pPr>
            <a:r>
              <a:rPr lang="en-AU" sz="1428">
                <a:solidFill>
                  <a:schemeClr val="dk1"/>
                </a:solidFill>
                <a:latin typeface="Arial"/>
                <a:ea typeface="Arial"/>
                <a:cs typeface="Arial"/>
                <a:sym typeface="Arial"/>
              </a:rPr>
              <a:t>Scope of solution space </a:t>
            </a:r>
            <a:endParaRPr sz="1400">
              <a:solidFill>
                <a:srgbClr val="000000"/>
              </a:solidFill>
              <a:latin typeface="Arial"/>
              <a:ea typeface="Arial"/>
              <a:cs typeface="Arial"/>
              <a:sym typeface="Arial"/>
            </a:endParaRPr>
          </a:p>
        </p:txBody>
      </p:sp>
      <p:sp>
        <p:nvSpPr>
          <p:cNvPr id="28" name="Google Shape;28;p1">
            <a:extLst>
              <a:ext uri="{FF2B5EF4-FFF2-40B4-BE49-F238E27FC236}">
                <a16:creationId xmlns:a16="http://schemas.microsoft.com/office/drawing/2014/main" id="{89BB8299-0E32-AB92-FAEC-59188C1A3E66}"/>
              </a:ext>
            </a:extLst>
          </p:cNvPr>
          <p:cNvSpPr txBox="1"/>
          <p:nvPr/>
        </p:nvSpPr>
        <p:spPr>
          <a:xfrm>
            <a:off x="1654848" y="4475700"/>
            <a:ext cx="8135602" cy="1032508"/>
          </a:xfrm>
          <a:prstGeom prst="rect">
            <a:avLst/>
          </a:prstGeom>
          <a:noFill/>
          <a:ln>
            <a:noFill/>
          </a:ln>
        </p:spPr>
        <p:txBody>
          <a:bodyPr spcFirstLastPara="1" wrap="square" lIns="91425" tIns="45700" rIns="91425" bIns="45700" anchor="t" anchorCtr="0">
            <a:noAutofit/>
          </a:bodyPr>
          <a:lstStyle/>
          <a:p>
            <a:pPr algn="just">
              <a:buClr>
                <a:srgbClr val="000000"/>
              </a:buClr>
              <a:buSzPts val="1071"/>
            </a:pPr>
            <a:r>
              <a:rPr lang="en-AU" sz="1071" dirty="0">
                <a:solidFill>
                  <a:srgbClr val="000000"/>
                </a:solidFill>
                <a:latin typeface="Arial"/>
                <a:ea typeface="Arial"/>
                <a:cs typeface="Arial"/>
                <a:sym typeface="Arial"/>
              </a:rPr>
              <a:t>In order to categorize </a:t>
            </a:r>
            <a:r>
              <a:rPr lang="en-AU" sz="1071" dirty="0" err="1">
                <a:solidFill>
                  <a:srgbClr val="000000"/>
                </a:solidFill>
                <a:latin typeface="Arial"/>
                <a:ea typeface="Arial"/>
                <a:cs typeface="Arial"/>
                <a:sym typeface="Arial"/>
              </a:rPr>
              <a:t>imgaes</a:t>
            </a:r>
            <a:r>
              <a:rPr lang="en-AU" sz="1071" dirty="0">
                <a:solidFill>
                  <a:srgbClr val="000000"/>
                </a:solidFill>
                <a:latin typeface="Arial"/>
                <a:ea typeface="Arial"/>
                <a:cs typeface="Arial"/>
                <a:sym typeface="Arial"/>
              </a:rPr>
              <a:t> as cancerous or not, a thorough confirmation that the images are completed (ex. no missing pixels), labelled as cancerous or not, all the same size, and of similar coloration (no unique </a:t>
            </a:r>
            <a:r>
              <a:rPr lang="en-AU" sz="1071" dirty="0" err="1">
                <a:solidFill>
                  <a:srgbClr val="000000"/>
                </a:solidFill>
                <a:latin typeface="Arial"/>
                <a:ea typeface="Arial"/>
                <a:cs typeface="Arial"/>
                <a:sym typeface="Arial"/>
              </a:rPr>
              <a:t>colors</a:t>
            </a:r>
            <a:r>
              <a:rPr lang="en-AU" sz="1071" dirty="0">
                <a:solidFill>
                  <a:srgbClr val="000000"/>
                </a:solidFill>
                <a:latin typeface="Arial"/>
                <a:ea typeface="Arial"/>
                <a:cs typeface="Arial"/>
                <a:sym typeface="Arial"/>
              </a:rPr>
              <a:t> from slide to slide) will be completed. Also, in order to make sure future images do not need to be oriented in a certain way, each image will be rotated and flipped (total of 8 images per initial image in dataset). After vectorization of the images, a model will be built and optimized to classify this data. </a:t>
            </a:r>
            <a:r>
              <a:rPr lang="en-AU" sz="1071" b="1" dirty="0">
                <a:solidFill>
                  <a:srgbClr val="000000"/>
                </a:solidFill>
                <a:latin typeface="Arial"/>
                <a:ea typeface="Arial"/>
                <a:cs typeface="Arial"/>
                <a:sym typeface="Arial"/>
              </a:rPr>
              <a:t>A model will be built using the Patch </a:t>
            </a:r>
            <a:r>
              <a:rPr lang="en-AU" sz="1071" b="1" dirty="0" err="1">
                <a:solidFill>
                  <a:srgbClr val="000000"/>
                </a:solidFill>
                <a:latin typeface="Arial"/>
                <a:ea typeface="Arial"/>
                <a:cs typeface="Arial"/>
                <a:sym typeface="Arial"/>
              </a:rPr>
              <a:t>Camelon</a:t>
            </a:r>
            <a:r>
              <a:rPr lang="en-AU" sz="1071" b="1" dirty="0">
                <a:solidFill>
                  <a:srgbClr val="000000"/>
                </a:solidFill>
                <a:latin typeface="Arial"/>
                <a:ea typeface="Arial"/>
                <a:cs typeface="Arial"/>
                <a:sym typeface="Arial"/>
              </a:rPr>
              <a:t> dataset to determine a model to categorize histology images as cancerous or not. </a:t>
            </a:r>
            <a:endParaRPr sz="1071" b="1" dirty="0">
              <a:solidFill>
                <a:srgbClr val="000000"/>
              </a:solidFill>
              <a:latin typeface="Arial"/>
              <a:ea typeface="Arial"/>
              <a:cs typeface="Arial"/>
              <a:sym typeface="Arial"/>
            </a:endParaRPr>
          </a:p>
        </p:txBody>
      </p:sp>
      <p:sp>
        <p:nvSpPr>
          <p:cNvPr id="29" name="Google Shape;29;p1">
            <a:extLst>
              <a:ext uri="{FF2B5EF4-FFF2-40B4-BE49-F238E27FC236}">
                <a16:creationId xmlns:a16="http://schemas.microsoft.com/office/drawing/2014/main" id="{D57C3298-D2BB-BF4F-4853-4B9DB5B203C6}"/>
              </a:ext>
            </a:extLst>
          </p:cNvPr>
          <p:cNvSpPr/>
          <p:nvPr/>
        </p:nvSpPr>
        <p:spPr>
          <a:xfrm>
            <a:off x="8157337" y="6524419"/>
            <a:ext cx="432048" cy="205317"/>
          </a:xfrm>
          <a:prstGeom prst="chevron">
            <a:avLst>
              <a:gd name="adj" fmla="val 50000"/>
            </a:avLst>
          </a:prstGeom>
          <a:solidFill>
            <a:schemeClr val="accent4"/>
          </a:solidFill>
          <a:ln w="952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algn="ctr">
              <a:buClr>
                <a:srgbClr val="000000"/>
              </a:buClr>
              <a:buSzPts val="1200"/>
            </a:pPr>
            <a:r>
              <a:rPr lang="en-AU" sz="1200" b="1">
                <a:solidFill>
                  <a:schemeClr val="lt1"/>
                </a:solidFill>
                <a:latin typeface="Quattrocento Sans"/>
                <a:ea typeface="Quattrocento Sans"/>
                <a:cs typeface="Quattrocento Sans"/>
                <a:sym typeface="Quattrocento Sans"/>
              </a:rPr>
              <a:t>H</a:t>
            </a:r>
            <a:endParaRPr sz="1400">
              <a:solidFill>
                <a:srgbClr val="000000"/>
              </a:solidFill>
              <a:latin typeface="Arial"/>
              <a:ea typeface="Arial"/>
              <a:cs typeface="Arial"/>
              <a:sym typeface="Arial"/>
            </a:endParaRPr>
          </a:p>
        </p:txBody>
      </p:sp>
      <p:sp>
        <p:nvSpPr>
          <p:cNvPr id="30" name="Google Shape;30;p1">
            <a:extLst>
              <a:ext uri="{FF2B5EF4-FFF2-40B4-BE49-F238E27FC236}">
                <a16:creationId xmlns:a16="http://schemas.microsoft.com/office/drawing/2014/main" id="{AFBD3B95-DE8F-1B00-E8F5-EF7CC4163DC5}"/>
              </a:ext>
            </a:extLst>
          </p:cNvPr>
          <p:cNvSpPr/>
          <p:nvPr/>
        </p:nvSpPr>
        <p:spPr>
          <a:xfrm>
            <a:off x="8552512" y="6513711"/>
            <a:ext cx="432048" cy="216024"/>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algn="ctr">
              <a:buClr>
                <a:srgbClr val="000000"/>
              </a:buClr>
              <a:buSzPts val="1200"/>
            </a:pPr>
            <a:r>
              <a:rPr lang="en-AU" sz="1200" b="1">
                <a:solidFill>
                  <a:schemeClr val="lt1"/>
                </a:solidFill>
                <a:latin typeface="Quattrocento Sans"/>
                <a:ea typeface="Quattrocento Sans"/>
                <a:cs typeface="Quattrocento Sans"/>
                <a:sym typeface="Quattrocento Sans"/>
              </a:rPr>
              <a:t>D</a:t>
            </a:r>
            <a:endParaRPr sz="1400">
              <a:solidFill>
                <a:srgbClr val="000000"/>
              </a:solidFill>
              <a:latin typeface="Arial"/>
              <a:ea typeface="Arial"/>
              <a:cs typeface="Arial"/>
              <a:sym typeface="Arial"/>
            </a:endParaRPr>
          </a:p>
        </p:txBody>
      </p:sp>
      <p:sp>
        <p:nvSpPr>
          <p:cNvPr id="31" name="Google Shape;31;p1">
            <a:extLst>
              <a:ext uri="{FF2B5EF4-FFF2-40B4-BE49-F238E27FC236}">
                <a16:creationId xmlns:a16="http://schemas.microsoft.com/office/drawing/2014/main" id="{7376AF25-278C-1CEC-CC2B-9EFC51A67542}"/>
              </a:ext>
            </a:extLst>
          </p:cNvPr>
          <p:cNvSpPr/>
          <p:nvPr/>
        </p:nvSpPr>
        <p:spPr>
          <a:xfrm>
            <a:off x="8976320" y="6503004"/>
            <a:ext cx="432048" cy="216024"/>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algn="ctr">
              <a:buClr>
                <a:srgbClr val="000000"/>
              </a:buClr>
              <a:buSzPts val="1200"/>
            </a:pPr>
            <a:r>
              <a:rPr lang="en-AU" sz="1200" b="1">
                <a:solidFill>
                  <a:schemeClr val="lt1"/>
                </a:solidFill>
                <a:latin typeface="Quattrocento Sans"/>
                <a:ea typeface="Quattrocento Sans"/>
                <a:cs typeface="Quattrocento Sans"/>
                <a:sym typeface="Quattrocento Sans"/>
              </a:rPr>
              <a:t>E</a:t>
            </a:r>
            <a:endParaRPr sz="1400">
              <a:solidFill>
                <a:srgbClr val="000000"/>
              </a:solidFill>
              <a:latin typeface="Arial"/>
              <a:ea typeface="Arial"/>
              <a:cs typeface="Arial"/>
              <a:sym typeface="Arial"/>
            </a:endParaRPr>
          </a:p>
        </p:txBody>
      </p:sp>
      <p:sp>
        <p:nvSpPr>
          <p:cNvPr id="32" name="Google Shape;32;p1">
            <a:extLst>
              <a:ext uri="{FF2B5EF4-FFF2-40B4-BE49-F238E27FC236}">
                <a16:creationId xmlns:a16="http://schemas.microsoft.com/office/drawing/2014/main" id="{3DB2D94E-7AB3-EA32-44A0-94A16F31E26C}"/>
              </a:ext>
            </a:extLst>
          </p:cNvPr>
          <p:cNvSpPr/>
          <p:nvPr/>
        </p:nvSpPr>
        <p:spPr>
          <a:xfrm>
            <a:off x="9370662" y="6508081"/>
            <a:ext cx="432048" cy="216024"/>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algn="ctr">
              <a:buClr>
                <a:srgbClr val="000000"/>
              </a:buClr>
              <a:buSzPts val="1200"/>
            </a:pPr>
            <a:r>
              <a:rPr lang="en-AU" sz="1200" b="1">
                <a:solidFill>
                  <a:schemeClr val="lt1"/>
                </a:solidFill>
                <a:latin typeface="Quattrocento Sans"/>
                <a:ea typeface="Quattrocento Sans"/>
                <a:cs typeface="Quattrocento Sans"/>
                <a:sym typeface="Quattrocento Sans"/>
              </a:rPr>
              <a:t>I</a:t>
            </a:r>
            <a:endParaRPr sz="1400">
              <a:solidFill>
                <a:srgbClr val="000000"/>
              </a:solidFill>
              <a:latin typeface="Arial"/>
              <a:ea typeface="Arial"/>
              <a:cs typeface="Arial"/>
              <a:sym typeface="Arial"/>
            </a:endParaRPr>
          </a:p>
        </p:txBody>
      </p:sp>
      <p:sp>
        <p:nvSpPr>
          <p:cNvPr id="33" name="Google Shape;33;p1">
            <a:extLst>
              <a:ext uri="{FF2B5EF4-FFF2-40B4-BE49-F238E27FC236}">
                <a16:creationId xmlns:a16="http://schemas.microsoft.com/office/drawing/2014/main" id="{199C5C10-347D-4782-9EDD-1C162703EB4C}"/>
              </a:ext>
            </a:extLst>
          </p:cNvPr>
          <p:cNvSpPr/>
          <p:nvPr/>
        </p:nvSpPr>
        <p:spPr>
          <a:xfrm>
            <a:off x="9769692" y="6503004"/>
            <a:ext cx="432048" cy="216024"/>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algn="ctr">
              <a:buClr>
                <a:srgbClr val="000000"/>
              </a:buClr>
              <a:buSzPts val="1200"/>
            </a:pPr>
            <a:r>
              <a:rPr lang="en-AU" sz="1200" b="1">
                <a:solidFill>
                  <a:schemeClr val="lt1"/>
                </a:solidFill>
                <a:latin typeface="Quattrocento Sans"/>
                <a:ea typeface="Quattrocento Sans"/>
                <a:cs typeface="Quattrocento Sans"/>
                <a:sym typeface="Quattrocento Sans"/>
              </a:rPr>
              <a:t>P</a:t>
            </a:r>
            <a:endParaRPr sz="1400">
              <a:solidFill>
                <a:srgbClr val="000000"/>
              </a:solidFill>
              <a:latin typeface="Arial"/>
              <a:ea typeface="Arial"/>
              <a:cs typeface="Arial"/>
              <a:sym typeface="Arial"/>
            </a:endParaRPr>
          </a:p>
        </p:txBody>
      </p:sp>
      <p:sp>
        <p:nvSpPr>
          <p:cNvPr id="34" name="Google Shape;34;p1">
            <a:extLst>
              <a:ext uri="{FF2B5EF4-FFF2-40B4-BE49-F238E27FC236}">
                <a16:creationId xmlns:a16="http://schemas.microsoft.com/office/drawing/2014/main" id="{2CAD89EA-474D-8401-4642-2791A206FF35}"/>
              </a:ext>
            </a:extLst>
          </p:cNvPr>
          <p:cNvSpPr/>
          <p:nvPr/>
        </p:nvSpPr>
        <p:spPr>
          <a:xfrm>
            <a:off x="9623130" y="707129"/>
            <a:ext cx="432048" cy="205317"/>
          </a:xfrm>
          <a:prstGeom prst="chevron">
            <a:avLst>
              <a:gd name="adj" fmla="val 50000"/>
            </a:avLst>
          </a:prstGeom>
          <a:solidFill>
            <a:schemeClr val="accent4"/>
          </a:solidFill>
          <a:ln w="952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algn="ctr">
              <a:buClr>
                <a:srgbClr val="000000"/>
              </a:buClr>
              <a:buSzPts val="1200"/>
            </a:pPr>
            <a:r>
              <a:rPr lang="en-AU" sz="1200" b="1">
                <a:solidFill>
                  <a:schemeClr val="lt1"/>
                </a:solidFill>
                <a:latin typeface="Quattrocento Sans"/>
                <a:ea typeface="Quattrocento Sans"/>
                <a:cs typeface="Quattrocento Sans"/>
                <a:sym typeface="Quattrocento Sans"/>
              </a:rPr>
              <a:t>H</a:t>
            </a:r>
            <a:endParaRPr sz="1400">
              <a:solidFill>
                <a:srgbClr val="000000"/>
              </a:solidFill>
              <a:latin typeface="Arial"/>
              <a:ea typeface="Arial"/>
              <a:cs typeface="Arial"/>
              <a:sym typeface="Arial"/>
            </a:endParaRPr>
          </a:p>
        </p:txBody>
      </p:sp>
      <p:sp>
        <p:nvSpPr>
          <p:cNvPr id="35" name="Google Shape;35;p1">
            <a:extLst>
              <a:ext uri="{FF2B5EF4-FFF2-40B4-BE49-F238E27FC236}">
                <a16:creationId xmlns:a16="http://schemas.microsoft.com/office/drawing/2014/main" id="{CF43DFFB-7B84-93C4-2170-8659C959215A}"/>
              </a:ext>
            </a:extLst>
          </p:cNvPr>
          <p:cNvSpPr/>
          <p:nvPr/>
        </p:nvSpPr>
        <p:spPr>
          <a:xfrm>
            <a:off x="1645750" y="116632"/>
            <a:ext cx="7724912" cy="1192040"/>
          </a:xfrm>
          <a:prstGeom prst="wedgeRectCallout">
            <a:avLst>
              <a:gd name="adj1" fmla="val 53513"/>
              <a:gd name="adj2" fmla="val 6588"/>
            </a:avLst>
          </a:prstGeom>
          <a:solidFill>
            <a:srgbClr val="FEF2DA"/>
          </a:solidFill>
          <a:ln>
            <a:noFill/>
          </a:ln>
        </p:spPr>
        <p:txBody>
          <a:bodyPr spcFirstLastPara="1" wrap="square" lIns="91425" tIns="45700" rIns="91425" bIns="45700" anchor="ctr" anchorCtr="0">
            <a:noAutofit/>
          </a:bodyPr>
          <a:lstStyle/>
          <a:p>
            <a:pPr algn="ctr">
              <a:buClr>
                <a:srgbClr val="000000"/>
              </a:buClr>
              <a:buSzPts val="1800"/>
            </a:pPr>
            <a:endParaRPr>
              <a:solidFill>
                <a:schemeClr val="dk1"/>
              </a:solidFill>
              <a:latin typeface="Arial"/>
              <a:ea typeface="Arial"/>
              <a:cs typeface="Arial"/>
              <a:sym typeface="Arial"/>
            </a:endParaRPr>
          </a:p>
        </p:txBody>
      </p:sp>
      <p:sp>
        <p:nvSpPr>
          <p:cNvPr id="36" name="Google Shape;36;p1">
            <a:extLst>
              <a:ext uri="{FF2B5EF4-FFF2-40B4-BE49-F238E27FC236}">
                <a16:creationId xmlns:a16="http://schemas.microsoft.com/office/drawing/2014/main" id="{6C1F143F-EFCD-1719-0820-90A2AF4BD1BA}"/>
              </a:ext>
            </a:extLst>
          </p:cNvPr>
          <p:cNvSpPr txBox="1">
            <a:spLocks noGrp="1"/>
          </p:cNvSpPr>
          <p:nvPr>
            <p:ph type="title"/>
          </p:nvPr>
        </p:nvSpPr>
        <p:spPr>
          <a:xfrm>
            <a:off x="1708140" y="134591"/>
            <a:ext cx="8793596" cy="307777"/>
          </a:xfrm>
          <a:prstGeom prst="rect">
            <a:avLst/>
          </a:prstGeom>
          <a:noFill/>
          <a:ln>
            <a:noFill/>
          </a:ln>
        </p:spPr>
        <p:txBody>
          <a:bodyPr spcFirstLastPara="1" vert="horz" wrap="square" lIns="0" tIns="0" rIns="0" bIns="0" rtlCol="0" anchor="t" anchorCtr="0">
            <a:noAutofit/>
          </a:bodyPr>
          <a:lstStyle/>
          <a:p>
            <a:r>
              <a:rPr lang="en-AU" sz="2000" dirty="0">
                <a:solidFill>
                  <a:srgbClr val="29748D"/>
                </a:solidFill>
                <a:latin typeface="Quattrocento Sans"/>
                <a:ea typeface="Quattrocento Sans"/>
                <a:cs typeface="Quattrocento Sans"/>
                <a:sym typeface="Quattrocento Sans"/>
              </a:rPr>
              <a:t>Problem Statement Worksheet</a:t>
            </a:r>
            <a:endParaRPr dirty="0"/>
          </a:p>
        </p:txBody>
      </p:sp>
      <p:sp>
        <p:nvSpPr>
          <p:cNvPr id="37" name="Google Shape;37;p1">
            <a:extLst>
              <a:ext uri="{FF2B5EF4-FFF2-40B4-BE49-F238E27FC236}">
                <a16:creationId xmlns:a16="http://schemas.microsoft.com/office/drawing/2014/main" id="{EF5CE3FA-1EFB-AD9E-42C3-2EF313742DF5}"/>
              </a:ext>
            </a:extLst>
          </p:cNvPr>
          <p:cNvSpPr txBox="1"/>
          <p:nvPr/>
        </p:nvSpPr>
        <p:spPr>
          <a:xfrm>
            <a:off x="1708141" y="396524"/>
            <a:ext cx="7556945" cy="917457"/>
          </a:xfrm>
          <a:prstGeom prst="rect">
            <a:avLst/>
          </a:prstGeom>
          <a:noFill/>
          <a:ln>
            <a:noFill/>
          </a:ln>
        </p:spPr>
        <p:txBody>
          <a:bodyPr spcFirstLastPara="1" wrap="square" lIns="91425" tIns="45700" rIns="91425" bIns="45700" anchor="t" anchorCtr="0">
            <a:noAutofit/>
          </a:bodyPr>
          <a:lstStyle/>
          <a:p>
            <a:r>
              <a:rPr lang="en-AU" sz="1400" b="1" dirty="0">
                <a:solidFill>
                  <a:srgbClr val="000000"/>
                </a:solidFill>
                <a:latin typeface="Arial"/>
                <a:ea typeface="Arial"/>
                <a:cs typeface="Arial"/>
                <a:sym typeface="Arial"/>
              </a:rPr>
              <a:t>Cancer detection using histology slide images may help increase the accuracy of cancer detection and increase the rate at which these images are </a:t>
            </a:r>
            <a:r>
              <a:rPr lang="en-AU" sz="1400" b="1" dirty="0" err="1">
                <a:solidFill>
                  <a:srgbClr val="000000"/>
                </a:solidFill>
                <a:latin typeface="Arial"/>
                <a:ea typeface="Arial"/>
                <a:cs typeface="Arial"/>
                <a:sym typeface="Arial"/>
              </a:rPr>
              <a:t>analyzed</a:t>
            </a:r>
            <a:r>
              <a:rPr lang="en-AU" sz="1400" b="1" dirty="0">
                <a:solidFill>
                  <a:srgbClr val="000000"/>
                </a:solidFill>
                <a:latin typeface="Arial"/>
                <a:ea typeface="Arial"/>
                <a:cs typeface="Arial"/>
                <a:sym typeface="Arial"/>
              </a:rPr>
              <a:t>. This may allow for better cancer detection for both physicians and patients, saving lives. This project will be completed by </a:t>
            </a:r>
            <a:r>
              <a:rPr lang="en-AU" b="1" dirty="0"/>
              <a:t>4/11/2026</a:t>
            </a:r>
            <a:endParaRPr dirty="0"/>
          </a:p>
        </p:txBody>
      </p:sp>
      <p:sp>
        <p:nvSpPr>
          <p:cNvPr id="38" name="Google Shape;38;p1">
            <a:extLst>
              <a:ext uri="{FF2B5EF4-FFF2-40B4-BE49-F238E27FC236}">
                <a16:creationId xmlns:a16="http://schemas.microsoft.com/office/drawing/2014/main" id="{E5363A18-287E-7D97-A659-6902F26CF190}"/>
              </a:ext>
            </a:extLst>
          </p:cNvPr>
          <p:cNvSpPr txBox="1"/>
          <p:nvPr/>
        </p:nvSpPr>
        <p:spPr>
          <a:xfrm>
            <a:off x="1703552" y="3273261"/>
            <a:ext cx="8135602" cy="1585022"/>
          </a:xfrm>
          <a:prstGeom prst="rect">
            <a:avLst/>
          </a:prstGeom>
          <a:noFill/>
          <a:ln>
            <a:noFill/>
          </a:ln>
        </p:spPr>
        <p:txBody>
          <a:bodyPr spcFirstLastPara="1" wrap="square" lIns="91425" tIns="45700" rIns="91425" bIns="45700" anchor="t" anchorCtr="0">
            <a:noAutofit/>
          </a:bodyPr>
          <a:lstStyle/>
          <a:p>
            <a:pPr algn="just">
              <a:buClr>
                <a:srgbClr val="000000"/>
              </a:buClr>
              <a:buSzPts val="1070"/>
            </a:pPr>
            <a:r>
              <a:rPr lang="en-AU" sz="1070" dirty="0">
                <a:solidFill>
                  <a:srgbClr val="000000"/>
                </a:solidFill>
                <a:latin typeface="Arial"/>
                <a:ea typeface="Arial"/>
                <a:cs typeface="Arial"/>
                <a:sym typeface="Arial"/>
              </a:rPr>
              <a:t>A model will be built and optimized to categorize a given set of cancerous/non-cancerous histology slide images from the Patch </a:t>
            </a:r>
            <a:r>
              <a:rPr lang="en-AU" sz="1070" dirty="0" err="1">
                <a:solidFill>
                  <a:srgbClr val="000000"/>
                </a:solidFill>
                <a:latin typeface="Arial"/>
                <a:ea typeface="Arial"/>
                <a:cs typeface="Arial"/>
                <a:sym typeface="Arial"/>
              </a:rPr>
              <a:t>Camelon</a:t>
            </a:r>
            <a:r>
              <a:rPr lang="en-AU" sz="1070" dirty="0">
                <a:solidFill>
                  <a:srgbClr val="000000"/>
                </a:solidFill>
                <a:latin typeface="Arial"/>
                <a:ea typeface="Arial"/>
                <a:cs typeface="Arial"/>
                <a:sym typeface="Arial"/>
              </a:rPr>
              <a:t> dataset. This model will reach &gt;90% accuracy and the analysis of an image will be complete within 2 seconds. Ideally, this model will be able to work with JPEG images. This project will be completed by 4/11/2026.</a:t>
            </a:r>
            <a:endParaRPr sz="140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80271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3">
          <a:extLst>
            <a:ext uri="{FF2B5EF4-FFF2-40B4-BE49-F238E27FC236}">
              <a16:creationId xmlns:a16="http://schemas.microsoft.com/office/drawing/2014/main" id="{107A89FE-FADB-D3E9-40F5-F19D888BC4DD}"/>
            </a:ext>
          </a:extLst>
        </p:cNvPr>
        <p:cNvGrpSpPr/>
        <p:nvPr/>
      </p:nvGrpSpPr>
      <p:grpSpPr>
        <a:xfrm>
          <a:off x="0" y="0"/>
          <a:ext cx="0" cy="0"/>
          <a:chOff x="0" y="0"/>
          <a:chExt cx="0" cy="0"/>
        </a:xfrm>
      </p:grpSpPr>
      <p:sp>
        <p:nvSpPr>
          <p:cNvPr id="44" name="Google Shape;44;p4">
            <a:extLst>
              <a:ext uri="{FF2B5EF4-FFF2-40B4-BE49-F238E27FC236}">
                <a16:creationId xmlns:a16="http://schemas.microsoft.com/office/drawing/2014/main" id="{B40C191D-F62E-BE6B-CBCC-0EC2AEEAE3BC}"/>
              </a:ext>
            </a:extLst>
          </p:cNvPr>
          <p:cNvSpPr/>
          <p:nvPr/>
        </p:nvSpPr>
        <p:spPr>
          <a:xfrm>
            <a:off x="8157337" y="6524419"/>
            <a:ext cx="432048" cy="205317"/>
          </a:xfrm>
          <a:prstGeom prst="chevron">
            <a:avLst>
              <a:gd name="adj" fmla="val 50000"/>
            </a:avLst>
          </a:prstGeom>
          <a:solidFill>
            <a:schemeClr val="accent4"/>
          </a:solidFill>
          <a:ln w="952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algn="ctr">
              <a:buClr>
                <a:srgbClr val="000000"/>
              </a:buClr>
              <a:buSzPts val="1200"/>
            </a:pPr>
            <a:r>
              <a:rPr lang="en-AU" sz="1200" b="1">
                <a:solidFill>
                  <a:schemeClr val="lt1"/>
                </a:solidFill>
                <a:latin typeface="Quattrocento Sans"/>
                <a:ea typeface="Quattrocento Sans"/>
                <a:cs typeface="Quattrocento Sans"/>
                <a:sym typeface="Quattrocento Sans"/>
              </a:rPr>
              <a:t>H</a:t>
            </a:r>
            <a:endParaRPr sz="1400">
              <a:solidFill>
                <a:srgbClr val="000000"/>
              </a:solidFill>
              <a:latin typeface="Arial"/>
              <a:ea typeface="Arial"/>
              <a:cs typeface="Arial"/>
              <a:sym typeface="Arial"/>
            </a:endParaRPr>
          </a:p>
        </p:txBody>
      </p:sp>
      <p:sp>
        <p:nvSpPr>
          <p:cNvPr id="45" name="Google Shape;45;p4">
            <a:extLst>
              <a:ext uri="{FF2B5EF4-FFF2-40B4-BE49-F238E27FC236}">
                <a16:creationId xmlns:a16="http://schemas.microsoft.com/office/drawing/2014/main" id="{3473E1AD-F070-7185-C305-3F2A35360AE5}"/>
              </a:ext>
            </a:extLst>
          </p:cNvPr>
          <p:cNvSpPr/>
          <p:nvPr/>
        </p:nvSpPr>
        <p:spPr>
          <a:xfrm>
            <a:off x="8552512" y="6513711"/>
            <a:ext cx="432048" cy="216024"/>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algn="ctr">
              <a:buClr>
                <a:srgbClr val="000000"/>
              </a:buClr>
              <a:buSzPts val="1200"/>
            </a:pPr>
            <a:r>
              <a:rPr lang="en-AU" sz="1200" b="1">
                <a:solidFill>
                  <a:schemeClr val="lt1"/>
                </a:solidFill>
                <a:latin typeface="Quattrocento Sans"/>
                <a:ea typeface="Quattrocento Sans"/>
                <a:cs typeface="Quattrocento Sans"/>
                <a:sym typeface="Quattrocento Sans"/>
              </a:rPr>
              <a:t>D</a:t>
            </a:r>
            <a:endParaRPr sz="1400">
              <a:solidFill>
                <a:srgbClr val="000000"/>
              </a:solidFill>
              <a:latin typeface="Arial"/>
              <a:ea typeface="Arial"/>
              <a:cs typeface="Arial"/>
              <a:sym typeface="Arial"/>
            </a:endParaRPr>
          </a:p>
        </p:txBody>
      </p:sp>
      <p:sp>
        <p:nvSpPr>
          <p:cNvPr id="46" name="Google Shape;46;p4">
            <a:extLst>
              <a:ext uri="{FF2B5EF4-FFF2-40B4-BE49-F238E27FC236}">
                <a16:creationId xmlns:a16="http://schemas.microsoft.com/office/drawing/2014/main" id="{D5C772E4-1FA0-82A1-1B1D-2C1212D7BF41}"/>
              </a:ext>
            </a:extLst>
          </p:cNvPr>
          <p:cNvSpPr/>
          <p:nvPr/>
        </p:nvSpPr>
        <p:spPr>
          <a:xfrm>
            <a:off x="8976320" y="6503004"/>
            <a:ext cx="432048" cy="216024"/>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algn="ctr">
              <a:buClr>
                <a:srgbClr val="000000"/>
              </a:buClr>
              <a:buSzPts val="1200"/>
            </a:pPr>
            <a:r>
              <a:rPr lang="en-AU" sz="1200" b="1">
                <a:solidFill>
                  <a:schemeClr val="lt1"/>
                </a:solidFill>
                <a:latin typeface="Quattrocento Sans"/>
                <a:ea typeface="Quattrocento Sans"/>
                <a:cs typeface="Quattrocento Sans"/>
                <a:sym typeface="Quattrocento Sans"/>
              </a:rPr>
              <a:t>E</a:t>
            </a:r>
            <a:endParaRPr sz="1400">
              <a:solidFill>
                <a:srgbClr val="000000"/>
              </a:solidFill>
              <a:latin typeface="Arial"/>
              <a:ea typeface="Arial"/>
              <a:cs typeface="Arial"/>
              <a:sym typeface="Arial"/>
            </a:endParaRPr>
          </a:p>
        </p:txBody>
      </p:sp>
      <p:sp>
        <p:nvSpPr>
          <p:cNvPr id="47" name="Google Shape;47;p4">
            <a:extLst>
              <a:ext uri="{FF2B5EF4-FFF2-40B4-BE49-F238E27FC236}">
                <a16:creationId xmlns:a16="http://schemas.microsoft.com/office/drawing/2014/main" id="{20B5EBC9-5B62-0C50-C700-CDE01DC5999B}"/>
              </a:ext>
            </a:extLst>
          </p:cNvPr>
          <p:cNvSpPr/>
          <p:nvPr/>
        </p:nvSpPr>
        <p:spPr>
          <a:xfrm>
            <a:off x="9370662" y="6508081"/>
            <a:ext cx="432048" cy="216024"/>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algn="ctr">
              <a:buClr>
                <a:srgbClr val="000000"/>
              </a:buClr>
              <a:buSzPts val="1200"/>
            </a:pPr>
            <a:r>
              <a:rPr lang="en-AU" sz="1200" b="1">
                <a:solidFill>
                  <a:schemeClr val="lt1"/>
                </a:solidFill>
                <a:latin typeface="Quattrocento Sans"/>
                <a:ea typeface="Quattrocento Sans"/>
                <a:cs typeface="Quattrocento Sans"/>
                <a:sym typeface="Quattrocento Sans"/>
              </a:rPr>
              <a:t>I</a:t>
            </a:r>
            <a:endParaRPr sz="1400">
              <a:solidFill>
                <a:srgbClr val="000000"/>
              </a:solidFill>
              <a:latin typeface="Arial"/>
              <a:ea typeface="Arial"/>
              <a:cs typeface="Arial"/>
              <a:sym typeface="Arial"/>
            </a:endParaRPr>
          </a:p>
        </p:txBody>
      </p:sp>
      <p:sp>
        <p:nvSpPr>
          <p:cNvPr id="48" name="Google Shape;48;p4">
            <a:extLst>
              <a:ext uri="{FF2B5EF4-FFF2-40B4-BE49-F238E27FC236}">
                <a16:creationId xmlns:a16="http://schemas.microsoft.com/office/drawing/2014/main" id="{397AEE63-D5A1-C40E-8ADA-3F5F9C05DA15}"/>
              </a:ext>
            </a:extLst>
          </p:cNvPr>
          <p:cNvSpPr/>
          <p:nvPr/>
        </p:nvSpPr>
        <p:spPr>
          <a:xfrm>
            <a:off x="9769692" y="6503004"/>
            <a:ext cx="432048" cy="216024"/>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algn="ctr">
              <a:buClr>
                <a:srgbClr val="000000"/>
              </a:buClr>
              <a:buSzPts val="1200"/>
            </a:pPr>
            <a:r>
              <a:rPr lang="en-AU" sz="1200" b="1">
                <a:solidFill>
                  <a:schemeClr val="lt1"/>
                </a:solidFill>
                <a:latin typeface="Quattrocento Sans"/>
                <a:ea typeface="Quattrocento Sans"/>
                <a:cs typeface="Quattrocento Sans"/>
                <a:sym typeface="Quattrocento Sans"/>
              </a:rPr>
              <a:t>P</a:t>
            </a:r>
            <a:endParaRPr sz="1400">
              <a:solidFill>
                <a:srgbClr val="000000"/>
              </a:solidFill>
              <a:latin typeface="Arial"/>
              <a:ea typeface="Arial"/>
              <a:cs typeface="Arial"/>
              <a:sym typeface="Arial"/>
            </a:endParaRPr>
          </a:p>
        </p:txBody>
      </p:sp>
      <p:sp>
        <p:nvSpPr>
          <p:cNvPr id="49" name="Google Shape;49;p4">
            <a:extLst>
              <a:ext uri="{FF2B5EF4-FFF2-40B4-BE49-F238E27FC236}">
                <a16:creationId xmlns:a16="http://schemas.microsoft.com/office/drawing/2014/main" id="{6D7640EB-6B81-15AC-99FB-8B1F7CCD06CC}"/>
              </a:ext>
            </a:extLst>
          </p:cNvPr>
          <p:cNvSpPr/>
          <p:nvPr/>
        </p:nvSpPr>
        <p:spPr>
          <a:xfrm>
            <a:off x="9623130" y="707129"/>
            <a:ext cx="432048" cy="205317"/>
          </a:xfrm>
          <a:prstGeom prst="chevron">
            <a:avLst>
              <a:gd name="adj" fmla="val 50000"/>
            </a:avLst>
          </a:prstGeom>
          <a:solidFill>
            <a:schemeClr val="accent4"/>
          </a:solidFill>
          <a:ln w="952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algn="ctr">
              <a:buClr>
                <a:srgbClr val="000000"/>
              </a:buClr>
              <a:buSzPts val="1200"/>
            </a:pPr>
            <a:r>
              <a:rPr lang="en-AU" sz="1200" b="1">
                <a:solidFill>
                  <a:schemeClr val="lt1"/>
                </a:solidFill>
                <a:latin typeface="Quattrocento Sans"/>
                <a:ea typeface="Quattrocento Sans"/>
                <a:cs typeface="Quattrocento Sans"/>
                <a:sym typeface="Quattrocento Sans"/>
              </a:rPr>
              <a:t>H</a:t>
            </a:r>
            <a:endParaRPr sz="1400">
              <a:solidFill>
                <a:srgbClr val="000000"/>
              </a:solidFill>
              <a:latin typeface="Arial"/>
              <a:ea typeface="Arial"/>
              <a:cs typeface="Arial"/>
              <a:sym typeface="Arial"/>
            </a:endParaRPr>
          </a:p>
        </p:txBody>
      </p:sp>
      <p:sp>
        <p:nvSpPr>
          <p:cNvPr id="50" name="Google Shape;50;p4">
            <a:extLst>
              <a:ext uri="{FF2B5EF4-FFF2-40B4-BE49-F238E27FC236}">
                <a16:creationId xmlns:a16="http://schemas.microsoft.com/office/drawing/2014/main" id="{5A4FAA37-07C3-FE3E-B4D0-81856C36A3FF}"/>
              </a:ext>
            </a:extLst>
          </p:cNvPr>
          <p:cNvSpPr/>
          <p:nvPr/>
        </p:nvSpPr>
        <p:spPr>
          <a:xfrm>
            <a:off x="1645750" y="116632"/>
            <a:ext cx="7724912" cy="1137079"/>
          </a:xfrm>
          <a:prstGeom prst="wedgeRectCallout">
            <a:avLst>
              <a:gd name="adj1" fmla="val 53513"/>
              <a:gd name="adj2" fmla="val 6588"/>
            </a:avLst>
          </a:prstGeom>
          <a:solidFill>
            <a:srgbClr val="FEF2DA"/>
          </a:solidFill>
          <a:ln>
            <a:noFill/>
          </a:ln>
        </p:spPr>
        <p:txBody>
          <a:bodyPr spcFirstLastPara="1" wrap="square" lIns="91425" tIns="45700" rIns="91425" bIns="45700" anchor="ctr" anchorCtr="0">
            <a:noAutofit/>
          </a:bodyPr>
          <a:lstStyle/>
          <a:p>
            <a:pPr algn="ctr">
              <a:buClr>
                <a:srgbClr val="000000"/>
              </a:buClr>
              <a:buSzPts val="1800"/>
            </a:pPr>
            <a:endParaRPr>
              <a:solidFill>
                <a:schemeClr val="dk1"/>
              </a:solidFill>
              <a:latin typeface="Arial"/>
              <a:ea typeface="Arial"/>
              <a:cs typeface="Arial"/>
              <a:sym typeface="Arial"/>
            </a:endParaRPr>
          </a:p>
        </p:txBody>
      </p:sp>
      <p:sp>
        <p:nvSpPr>
          <p:cNvPr id="52" name="Google Shape;52;p4">
            <a:extLst>
              <a:ext uri="{FF2B5EF4-FFF2-40B4-BE49-F238E27FC236}">
                <a16:creationId xmlns:a16="http://schemas.microsoft.com/office/drawing/2014/main" id="{CC9D6F53-87FD-1819-6257-1BBD85F5A82A}"/>
              </a:ext>
            </a:extLst>
          </p:cNvPr>
          <p:cNvSpPr txBox="1"/>
          <p:nvPr/>
        </p:nvSpPr>
        <p:spPr>
          <a:xfrm>
            <a:off x="1708141" y="183392"/>
            <a:ext cx="7556945" cy="666675"/>
          </a:xfrm>
          <a:prstGeom prst="rect">
            <a:avLst/>
          </a:prstGeom>
          <a:noFill/>
          <a:ln>
            <a:noFill/>
          </a:ln>
        </p:spPr>
        <p:txBody>
          <a:bodyPr spcFirstLastPara="1" wrap="square" lIns="91425" tIns="45700" rIns="91425" bIns="45700" anchor="t" anchorCtr="0">
            <a:noAutofit/>
          </a:bodyPr>
          <a:lstStyle/>
          <a:p>
            <a:r>
              <a:rPr lang="en-US" sz="1400" b="1" dirty="0">
                <a:solidFill>
                  <a:srgbClr val="000000"/>
                </a:solidFill>
                <a:latin typeface="Arial"/>
                <a:ea typeface="Arial"/>
                <a:cs typeface="Arial"/>
                <a:sym typeface="Arial"/>
              </a:rPr>
              <a:t>Cancer detection using histology slide images may help increase the accuracy of cancer detection and increase the rate at which these images are analyzed. This may allow for better cancer detection for both physicians and patients, saving lives. This project will be completed by </a:t>
            </a:r>
            <a:r>
              <a:rPr lang="en-US" sz="1400" b="1" dirty="0"/>
              <a:t>4/11/2026</a:t>
            </a:r>
            <a:endParaRPr lang="en-US" sz="1400" dirty="0"/>
          </a:p>
        </p:txBody>
      </p:sp>
      <p:sp>
        <p:nvSpPr>
          <p:cNvPr id="53" name="Google Shape;53;p4">
            <a:extLst>
              <a:ext uri="{FF2B5EF4-FFF2-40B4-BE49-F238E27FC236}">
                <a16:creationId xmlns:a16="http://schemas.microsoft.com/office/drawing/2014/main" id="{DE0A6453-640A-ABC6-85B1-8B04BB8185E4}"/>
              </a:ext>
            </a:extLst>
          </p:cNvPr>
          <p:cNvSpPr/>
          <p:nvPr/>
        </p:nvSpPr>
        <p:spPr>
          <a:xfrm>
            <a:off x="1707300" y="1576014"/>
            <a:ext cx="8748244" cy="4681063"/>
          </a:xfrm>
          <a:prstGeom prst="rect">
            <a:avLst/>
          </a:prstGeom>
          <a:solidFill>
            <a:schemeClr val="lt1"/>
          </a:solidFill>
          <a:ln w="1905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a:buClr>
                <a:srgbClr val="000000"/>
              </a:buClr>
              <a:buSzPts val="1428"/>
            </a:pPr>
            <a:endParaRPr sz="1428">
              <a:solidFill>
                <a:srgbClr val="000000"/>
              </a:solidFill>
              <a:latin typeface="Arial"/>
              <a:ea typeface="Arial"/>
              <a:cs typeface="Arial"/>
              <a:sym typeface="Arial"/>
            </a:endParaRPr>
          </a:p>
        </p:txBody>
      </p:sp>
      <p:sp>
        <p:nvSpPr>
          <p:cNvPr id="54" name="Google Shape;54;p4">
            <a:extLst>
              <a:ext uri="{FF2B5EF4-FFF2-40B4-BE49-F238E27FC236}">
                <a16:creationId xmlns:a16="http://schemas.microsoft.com/office/drawing/2014/main" id="{ECD43CF8-68B5-32EF-4C19-258BCBE06F8D}"/>
              </a:ext>
            </a:extLst>
          </p:cNvPr>
          <p:cNvSpPr/>
          <p:nvPr/>
        </p:nvSpPr>
        <p:spPr>
          <a:xfrm>
            <a:off x="1736457" y="1661022"/>
            <a:ext cx="288315" cy="288315"/>
          </a:xfrm>
          <a:prstGeom prst="rect">
            <a:avLst/>
          </a:prstGeom>
          <a:solidFill>
            <a:srgbClr val="F1A205"/>
          </a:solidFill>
          <a:ln>
            <a:noFill/>
          </a:ln>
        </p:spPr>
        <p:txBody>
          <a:bodyPr spcFirstLastPara="1" wrap="square" lIns="47575" tIns="47575" rIns="47575" bIns="47575" anchor="ctr" anchorCtr="0">
            <a:noAutofit/>
          </a:bodyPr>
          <a:lstStyle/>
          <a:p>
            <a:pPr>
              <a:buClr>
                <a:srgbClr val="000000"/>
              </a:buClr>
              <a:buSzPts val="1428"/>
            </a:pPr>
            <a:r>
              <a:rPr lang="en-AU" sz="1428">
                <a:solidFill>
                  <a:schemeClr val="lt1"/>
                </a:solidFill>
                <a:latin typeface="Arial"/>
                <a:ea typeface="Arial"/>
                <a:cs typeface="Arial"/>
                <a:sym typeface="Arial"/>
              </a:rPr>
              <a:t>4</a:t>
            </a:r>
            <a:endParaRPr sz="1400">
              <a:solidFill>
                <a:srgbClr val="000000"/>
              </a:solidFill>
              <a:latin typeface="Arial"/>
              <a:ea typeface="Arial"/>
              <a:cs typeface="Arial"/>
              <a:sym typeface="Arial"/>
            </a:endParaRPr>
          </a:p>
        </p:txBody>
      </p:sp>
      <p:sp>
        <p:nvSpPr>
          <p:cNvPr id="55" name="Google Shape;55;p4">
            <a:extLst>
              <a:ext uri="{FF2B5EF4-FFF2-40B4-BE49-F238E27FC236}">
                <a16:creationId xmlns:a16="http://schemas.microsoft.com/office/drawing/2014/main" id="{A6AFB6FF-267E-46D9-4DCC-7F1D30CEB89A}"/>
              </a:ext>
            </a:extLst>
          </p:cNvPr>
          <p:cNvSpPr/>
          <p:nvPr/>
        </p:nvSpPr>
        <p:spPr>
          <a:xfrm>
            <a:off x="2118715" y="1693076"/>
            <a:ext cx="3597454" cy="224203"/>
          </a:xfrm>
          <a:prstGeom prst="rect">
            <a:avLst/>
          </a:prstGeom>
          <a:noFill/>
          <a:ln>
            <a:noFill/>
          </a:ln>
        </p:spPr>
        <p:txBody>
          <a:bodyPr spcFirstLastPara="1" wrap="square" lIns="0" tIns="0" rIns="0" bIns="0" anchor="ctr" anchorCtr="0">
            <a:noAutofit/>
          </a:bodyPr>
          <a:lstStyle/>
          <a:p>
            <a:pPr>
              <a:buClr>
                <a:srgbClr val="000000"/>
              </a:buClr>
              <a:buSzPts val="1428"/>
            </a:pPr>
            <a:r>
              <a:rPr lang="en-AU" sz="1428">
                <a:solidFill>
                  <a:schemeClr val="dk1"/>
                </a:solidFill>
                <a:latin typeface="Arial"/>
                <a:ea typeface="Arial"/>
                <a:cs typeface="Arial"/>
                <a:sym typeface="Arial"/>
              </a:rPr>
              <a:t>Constraints within solution space</a:t>
            </a:r>
            <a:endParaRPr sz="1400">
              <a:solidFill>
                <a:srgbClr val="000000"/>
              </a:solidFill>
              <a:latin typeface="Arial"/>
              <a:ea typeface="Arial"/>
              <a:cs typeface="Arial"/>
              <a:sym typeface="Arial"/>
            </a:endParaRPr>
          </a:p>
        </p:txBody>
      </p:sp>
      <p:sp>
        <p:nvSpPr>
          <p:cNvPr id="56" name="Google Shape;56;p4">
            <a:extLst>
              <a:ext uri="{FF2B5EF4-FFF2-40B4-BE49-F238E27FC236}">
                <a16:creationId xmlns:a16="http://schemas.microsoft.com/office/drawing/2014/main" id="{34F219C7-25E2-2690-22A6-CC41BD70ED2B}"/>
              </a:ext>
            </a:extLst>
          </p:cNvPr>
          <p:cNvSpPr/>
          <p:nvPr/>
        </p:nvSpPr>
        <p:spPr>
          <a:xfrm>
            <a:off x="1817915" y="2851767"/>
            <a:ext cx="288315" cy="288315"/>
          </a:xfrm>
          <a:prstGeom prst="rect">
            <a:avLst/>
          </a:prstGeom>
          <a:solidFill>
            <a:srgbClr val="F1A205"/>
          </a:solidFill>
          <a:ln>
            <a:noFill/>
          </a:ln>
        </p:spPr>
        <p:txBody>
          <a:bodyPr spcFirstLastPara="1" wrap="square" lIns="47575" tIns="47575" rIns="47575" bIns="47575" anchor="ctr" anchorCtr="0">
            <a:noAutofit/>
          </a:bodyPr>
          <a:lstStyle/>
          <a:p>
            <a:pPr>
              <a:buClr>
                <a:srgbClr val="000000"/>
              </a:buClr>
              <a:buSzPts val="1428"/>
            </a:pPr>
            <a:r>
              <a:rPr lang="en-AU" sz="1428">
                <a:solidFill>
                  <a:schemeClr val="lt1"/>
                </a:solidFill>
                <a:latin typeface="Arial"/>
                <a:ea typeface="Arial"/>
                <a:cs typeface="Arial"/>
                <a:sym typeface="Arial"/>
              </a:rPr>
              <a:t>5</a:t>
            </a:r>
            <a:endParaRPr sz="1400">
              <a:solidFill>
                <a:srgbClr val="000000"/>
              </a:solidFill>
              <a:latin typeface="Arial"/>
              <a:ea typeface="Arial"/>
              <a:cs typeface="Arial"/>
              <a:sym typeface="Arial"/>
            </a:endParaRPr>
          </a:p>
        </p:txBody>
      </p:sp>
      <p:sp>
        <p:nvSpPr>
          <p:cNvPr id="57" name="Google Shape;57;p4">
            <a:extLst>
              <a:ext uri="{FF2B5EF4-FFF2-40B4-BE49-F238E27FC236}">
                <a16:creationId xmlns:a16="http://schemas.microsoft.com/office/drawing/2014/main" id="{3BD6F1B7-C78F-D8F7-EB42-CB1AF425E35B}"/>
              </a:ext>
            </a:extLst>
          </p:cNvPr>
          <p:cNvSpPr/>
          <p:nvPr/>
        </p:nvSpPr>
        <p:spPr>
          <a:xfrm>
            <a:off x="2200173" y="2883823"/>
            <a:ext cx="3597454" cy="224203"/>
          </a:xfrm>
          <a:prstGeom prst="rect">
            <a:avLst/>
          </a:prstGeom>
          <a:noFill/>
          <a:ln>
            <a:noFill/>
          </a:ln>
        </p:spPr>
        <p:txBody>
          <a:bodyPr spcFirstLastPara="1" wrap="square" lIns="0" tIns="0" rIns="0" bIns="0" anchor="ctr" anchorCtr="0">
            <a:noAutofit/>
          </a:bodyPr>
          <a:lstStyle/>
          <a:p>
            <a:pPr>
              <a:buClr>
                <a:srgbClr val="000000"/>
              </a:buClr>
              <a:buSzPts val="1428"/>
            </a:pPr>
            <a:r>
              <a:rPr lang="en-AU" sz="1428">
                <a:solidFill>
                  <a:schemeClr val="dk1"/>
                </a:solidFill>
                <a:latin typeface="Arial"/>
                <a:ea typeface="Arial"/>
                <a:cs typeface="Arial"/>
                <a:sym typeface="Arial"/>
              </a:rPr>
              <a:t>Stakeholders to provide key insight</a:t>
            </a:r>
            <a:endParaRPr sz="1400">
              <a:solidFill>
                <a:srgbClr val="000000"/>
              </a:solidFill>
              <a:latin typeface="Arial"/>
              <a:ea typeface="Arial"/>
              <a:cs typeface="Arial"/>
              <a:sym typeface="Arial"/>
            </a:endParaRPr>
          </a:p>
        </p:txBody>
      </p:sp>
      <p:sp>
        <p:nvSpPr>
          <p:cNvPr id="58" name="Google Shape;58;p4">
            <a:extLst>
              <a:ext uri="{FF2B5EF4-FFF2-40B4-BE49-F238E27FC236}">
                <a16:creationId xmlns:a16="http://schemas.microsoft.com/office/drawing/2014/main" id="{4CE43150-AE31-F77C-BFCC-44D58FFAF92D}"/>
              </a:ext>
            </a:extLst>
          </p:cNvPr>
          <p:cNvSpPr txBox="1"/>
          <p:nvPr/>
        </p:nvSpPr>
        <p:spPr>
          <a:xfrm>
            <a:off x="1817914" y="2012875"/>
            <a:ext cx="8588736" cy="1315657"/>
          </a:xfrm>
          <a:prstGeom prst="rect">
            <a:avLst/>
          </a:prstGeom>
          <a:noFill/>
          <a:ln>
            <a:noFill/>
          </a:ln>
        </p:spPr>
        <p:txBody>
          <a:bodyPr spcFirstLastPara="1" wrap="square" lIns="91425" tIns="45700" rIns="91425" bIns="45700" anchor="t" anchorCtr="0">
            <a:noAutofit/>
          </a:bodyPr>
          <a:lstStyle/>
          <a:p>
            <a:pPr marL="171450" indent="-171450">
              <a:buClr>
                <a:srgbClr val="000000"/>
              </a:buClr>
              <a:buSzPts val="1070"/>
              <a:buFont typeface="Arial"/>
              <a:buChar char="•"/>
            </a:pPr>
            <a:r>
              <a:rPr lang="en-AU" sz="1070" dirty="0">
                <a:solidFill>
                  <a:srgbClr val="000000"/>
                </a:solidFill>
                <a:latin typeface="Arial"/>
                <a:ea typeface="Arial"/>
                <a:cs typeface="Arial"/>
                <a:sym typeface="Arial"/>
              </a:rPr>
              <a:t>The data available for free is limited. This may affect may bias any conclusions</a:t>
            </a:r>
            <a:endParaRPr dirty="0"/>
          </a:p>
          <a:p>
            <a:pPr marL="171450" indent="-171450">
              <a:buClr>
                <a:srgbClr val="000000"/>
              </a:buClr>
              <a:buSzPts val="1070"/>
              <a:buFont typeface="Arial"/>
              <a:buChar char="•"/>
            </a:pPr>
            <a:r>
              <a:rPr lang="en-AU" sz="1070" dirty="0">
                <a:solidFill>
                  <a:srgbClr val="000000"/>
                </a:solidFill>
                <a:latin typeface="Arial"/>
                <a:ea typeface="Arial"/>
                <a:cs typeface="Arial"/>
                <a:sym typeface="Arial"/>
              </a:rPr>
              <a:t>The data has limited/no historical data so the analysis will be primarily limited to the current houses for sale. </a:t>
            </a:r>
            <a:endParaRPr dirty="0"/>
          </a:p>
          <a:p>
            <a:pPr marL="171450" indent="-171450">
              <a:buClr>
                <a:srgbClr val="000000"/>
              </a:buClr>
              <a:buSzPts val="1070"/>
              <a:buFont typeface="Arial"/>
              <a:buChar char="•"/>
            </a:pPr>
            <a:r>
              <a:rPr lang="en-AU" sz="1070" dirty="0">
                <a:solidFill>
                  <a:srgbClr val="000000"/>
                </a:solidFill>
                <a:latin typeface="Arial"/>
                <a:ea typeface="Arial"/>
                <a:cs typeface="Arial"/>
                <a:sym typeface="Arial"/>
              </a:rPr>
              <a:t>The data will be limited to </a:t>
            </a:r>
            <a:r>
              <a:rPr lang="en-AU" sz="1070" dirty="0"/>
              <a:t>Minnesota</a:t>
            </a:r>
            <a:r>
              <a:rPr lang="en-AU" sz="1070" dirty="0">
                <a:solidFill>
                  <a:srgbClr val="000000"/>
                </a:solidFill>
                <a:latin typeface="Arial"/>
                <a:ea typeface="Arial"/>
                <a:cs typeface="Arial"/>
                <a:sym typeface="Arial"/>
              </a:rPr>
              <a:t> to limit complicating factors from different state laws and regulations. </a:t>
            </a:r>
            <a:endParaRPr sz="1070" dirty="0">
              <a:solidFill>
                <a:srgbClr val="000000"/>
              </a:solidFill>
              <a:latin typeface="Arial"/>
              <a:ea typeface="Arial"/>
              <a:cs typeface="Arial"/>
              <a:sym typeface="Arial"/>
            </a:endParaRPr>
          </a:p>
        </p:txBody>
      </p:sp>
      <p:sp>
        <p:nvSpPr>
          <p:cNvPr id="59" name="Google Shape;59;p4">
            <a:extLst>
              <a:ext uri="{FF2B5EF4-FFF2-40B4-BE49-F238E27FC236}">
                <a16:creationId xmlns:a16="http://schemas.microsoft.com/office/drawing/2014/main" id="{6BB4752E-93DF-B421-5CEE-41CEE5711D53}"/>
              </a:ext>
            </a:extLst>
          </p:cNvPr>
          <p:cNvSpPr txBox="1"/>
          <p:nvPr/>
        </p:nvSpPr>
        <p:spPr>
          <a:xfrm>
            <a:off x="1867957" y="3144855"/>
            <a:ext cx="4324418" cy="1081065"/>
          </a:xfrm>
          <a:prstGeom prst="rect">
            <a:avLst/>
          </a:prstGeom>
          <a:noFill/>
          <a:ln>
            <a:noFill/>
          </a:ln>
        </p:spPr>
        <p:txBody>
          <a:bodyPr spcFirstLastPara="1" wrap="square" lIns="91425" tIns="45700" rIns="91425" bIns="45700" anchor="t" anchorCtr="0">
            <a:noAutofit/>
          </a:bodyPr>
          <a:lstStyle/>
          <a:p>
            <a:pPr marL="171450" indent="-171450" algn="just">
              <a:buClr>
                <a:srgbClr val="000000"/>
              </a:buClr>
              <a:buSzPts val="1000"/>
              <a:buFont typeface="Arial"/>
              <a:buChar char="•"/>
            </a:pPr>
            <a:r>
              <a:rPr lang="en-AU" sz="1000" dirty="0">
                <a:solidFill>
                  <a:srgbClr val="000000"/>
                </a:solidFill>
                <a:latin typeface="Arial"/>
                <a:ea typeface="Arial"/>
                <a:cs typeface="Arial"/>
                <a:sym typeface="Arial"/>
              </a:rPr>
              <a:t>Benjamin Peters (Me)</a:t>
            </a:r>
          </a:p>
          <a:p>
            <a:pPr marL="171450" indent="-171450" algn="just">
              <a:buClr>
                <a:srgbClr val="000000"/>
              </a:buClr>
              <a:buSzPts val="1000"/>
              <a:buFont typeface="Arial"/>
              <a:buChar char="•"/>
            </a:pPr>
            <a:r>
              <a:rPr lang="en-AU" sz="1000" dirty="0">
                <a:solidFill>
                  <a:srgbClr val="000000"/>
                </a:solidFill>
                <a:latin typeface="Arial"/>
                <a:cs typeface="Arial"/>
                <a:sym typeface="Arial"/>
              </a:rPr>
              <a:t>Oncologists</a:t>
            </a:r>
          </a:p>
          <a:p>
            <a:pPr marL="171450" indent="-171450" algn="just">
              <a:buClr>
                <a:srgbClr val="000000"/>
              </a:buClr>
              <a:buSzPts val="1000"/>
              <a:buFont typeface="Arial"/>
              <a:buChar char="•"/>
            </a:pPr>
            <a:r>
              <a:rPr lang="en-AU" sz="1000" dirty="0">
                <a:solidFill>
                  <a:srgbClr val="000000"/>
                </a:solidFill>
                <a:latin typeface="Arial"/>
                <a:cs typeface="Arial"/>
                <a:sym typeface="Arial"/>
              </a:rPr>
              <a:t>Cancer Patients</a:t>
            </a:r>
          </a:p>
          <a:p>
            <a:pPr marL="171450" indent="-171450" algn="just">
              <a:buClr>
                <a:srgbClr val="000000"/>
              </a:buClr>
              <a:buSzPts val="1000"/>
              <a:buFont typeface="Arial"/>
              <a:buChar char="•"/>
            </a:pPr>
            <a:r>
              <a:rPr lang="en-AU" sz="1000" dirty="0">
                <a:solidFill>
                  <a:srgbClr val="000000"/>
                </a:solidFill>
                <a:latin typeface="Arial"/>
                <a:cs typeface="Arial"/>
                <a:sym typeface="Arial"/>
              </a:rPr>
              <a:t>Hospitals</a:t>
            </a:r>
          </a:p>
          <a:p>
            <a:pPr marL="171450" indent="-171450" algn="just">
              <a:buClr>
                <a:srgbClr val="000000"/>
              </a:buClr>
              <a:buSzPts val="1000"/>
              <a:buFont typeface="Arial"/>
              <a:buChar char="•"/>
            </a:pPr>
            <a:endParaRPr lang="en-AU" sz="1000" dirty="0">
              <a:solidFill>
                <a:srgbClr val="000000"/>
              </a:solidFill>
              <a:latin typeface="Arial"/>
              <a:cs typeface="Arial"/>
              <a:sym typeface="Arial"/>
            </a:endParaRPr>
          </a:p>
          <a:p>
            <a:pPr marL="171450" indent="-171450" algn="just">
              <a:buClr>
                <a:srgbClr val="000000"/>
              </a:buClr>
              <a:buSzPts val="1000"/>
              <a:buFont typeface="Arial"/>
              <a:buChar char="•"/>
            </a:pPr>
            <a:endParaRPr dirty="0"/>
          </a:p>
        </p:txBody>
      </p:sp>
      <p:sp>
        <p:nvSpPr>
          <p:cNvPr id="60" name="Google Shape;60;p4">
            <a:extLst>
              <a:ext uri="{FF2B5EF4-FFF2-40B4-BE49-F238E27FC236}">
                <a16:creationId xmlns:a16="http://schemas.microsoft.com/office/drawing/2014/main" id="{806B05D7-3969-86CE-36EF-366E508AF767}"/>
              </a:ext>
            </a:extLst>
          </p:cNvPr>
          <p:cNvSpPr/>
          <p:nvPr/>
        </p:nvSpPr>
        <p:spPr>
          <a:xfrm>
            <a:off x="1736456" y="4056294"/>
            <a:ext cx="288300" cy="288300"/>
          </a:xfrm>
          <a:prstGeom prst="rect">
            <a:avLst/>
          </a:prstGeom>
          <a:solidFill>
            <a:srgbClr val="F1A205"/>
          </a:solidFill>
          <a:ln>
            <a:noFill/>
          </a:ln>
        </p:spPr>
        <p:txBody>
          <a:bodyPr spcFirstLastPara="1" wrap="square" lIns="47575" tIns="47575" rIns="47575" bIns="47575" anchor="ctr" anchorCtr="0">
            <a:noAutofit/>
          </a:bodyPr>
          <a:lstStyle/>
          <a:p>
            <a:pPr>
              <a:buClr>
                <a:srgbClr val="000000"/>
              </a:buClr>
              <a:buSzPts val="1428"/>
            </a:pPr>
            <a:r>
              <a:rPr lang="en-AU" sz="1428">
                <a:solidFill>
                  <a:schemeClr val="lt1"/>
                </a:solidFill>
                <a:latin typeface="Arial"/>
                <a:ea typeface="Arial"/>
                <a:cs typeface="Arial"/>
                <a:sym typeface="Arial"/>
              </a:rPr>
              <a:t>6</a:t>
            </a:r>
            <a:endParaRPr sz="1400">
              <a:solidFill>
                <a:srgbClr val="000000"/>
              </a:solidFill>
              <a:latin typeface="Arial"/>
              <a:ea typeface="Arial"/>
              <a:cs typeface="Arial"/>
              <a:sym typeface="Arial"/>
            </a:endParaRPr>
          </a:p>
        </p:txBody>
      </p:sp>
      <p:sp>
        <p:nvSpPr>
          <p:cNvPr id="61" name="Google Shape;61;p4">
            <a:extLst>
              <a:ext uri="{FF2B5EF4-FFF2-40B4-BE49-F238E27FC236}">
                <a16:creationId xmlns:a16="http://schemas.microsoft.com/office/drawing/2014/main" id="{E038B86A-425D-2FF8-3B13-D6EEB17B7787}"/>
              </a:ext>
            </a:extLst>
          </p:cNvPr>
          <p:cNvSpPr/>
          <p:nvPr/>
        </p:nvSpPr>
        <p:spPr>
          <a:xfrm>
            <a:off x="2118715" y="4088350"/>
            <a:ext cx="3597600" cy="224100"/>
          </a:xfrm>
          <a:prstGeom prst="rect">
            <a:avLst/>
          </a:prstGeom>
          <a:noFill/>
          <a:ln>
            <a:noFill/>
          </a:ln>
        </p:spPr>
        <p:txBody>
          <a:bodyPr spcFirstLastPara="1" wrap="square" lIns="0" tIns="0" rIns="0" bIns="0" anchor="ctr" anchorCtr="0">
            <a:noAutofit/>
          </a:bodyPr>
          <a:lstStyle/>
          <a:p>
            <a:pPr>
              <a:buClr>
                <a:srgbClr val="000000"/>
              </a:buClr>
              <a:buSzPts val="1428"/>
            </a:pPr>
            <a:r>
              <a:rPr lang="en-AU" sz="1428">
                <a:solidFill>
                  <a:schemeClr val="dk1"/>
                </a:solidFill>
                <a:latin typeface="Arial"/>
                <a:ea typeface="Arial"/>
                <a:cs typeface="Arial"/>
                <a:sym typeface="Arial"/>
              </a:rPr>
              <a:t>Key data sources </a:t>
            </a:r>
            <a:endParaRPr sz="1400">
              <a:solidFill>
                <a:srgbClr val="000000"/>
              </a:solidFill>
              <a:latin typeface="Arial"/>
              <a:ea typeface="Arial"/>
              <a:cs typeface="Arial"/>
              <a:sym typeface="Arial"/>
            </a:endParaRPr>
          </a:p>
        </p:txBody>
      </p:sp>
      <p:sp>
        <p:nvSpPr>
          <p:cNvPr id="62" name="Google Shape;62;p4">
            <a:extLst>
              <a:ext uri="{FF2B5EF4-FFF2-40B4-BE49-F238E27FC236}">
                <a16:creationId xmlns:a16="http://schemas.microsoft.com/office/drawing/2014/main" id="{F6C37A24-1B6E-8040-9648-4B6207431118}"/>
              </a:ext>
            </a:extLst>
          </p:cNvPr>
          <p:cNvSpPr txBox="1"/>
          <p:nvPr/>
        </p:nvSpPr>
        <p:spPr>
          <a:xfrm>
            <a:off x="1867957" y="4231725"/>
            <a:ext cx="8205300" cy="1592100"/>
          </a:xfrm>
          <a:prstGeom prst="rect">
            <a:avLst/>
          </a:prstGeom>
          <a:noFill/>
          <a:ln>
            <a:noFill/>
          </a:ln>
        </p:spPr>
        <p:txBody>
          <a:bodyPr spcFirstLastPara="1" wrap="square" lIns="91425" tIns="45700" rIns="91425" bIns="45700" anchor="t" anchorCtr="0">
            <a:noAutofit/>
          </a:bodyPr>
          <a:lstStyle/>
          <a:p>
            <a:pPr algn="just"/>
            <a:endParaRPr sz="1070" dirty="0">
              <a:solidFill>
                <a:srgbClr val="000000"/>
              </a:solidFill>
              <a:latin typeface="Arial"/>
              <a:ea typeface="Arial"/>
              <a:cs typeface="Arial"/>
              <a:sym typeface="Arial"/>
            </a:endParaRPr>
          </a:p>
          <a:p>
            <a:pPr marL="171450" indent="-171450" algn="just">
              <a:buClr>
                <a:srgbClr val="000000"/>
              </a:buClr>
              <a:buSzPts val="1070"/>
              <a:buFont typeface="Arial"/>
              <a:buChar char="•"/>
            </a:pPr>
            <a:r>
              <a:rPr lang="en-US" sz="1070" dirty="0">
                <a:solidFill>
                  <a:srgbClr val="000000"/>
                </a:solidFill>
                <a:latin typeface="Arial"/>
                <a:ea typeface="Arial"/>
                <a:cs typeface="Arial"/>
                <a:sym typeface="Arial"/>
              </a:rPr>
              <a:t>Patch </a:t>
            </a:r>
            <a:r>
              <a:rPr lang="en-US" sz="1070" dirty="0" err="1">
                <a:solidFill>
                  <a:srgbClr val="000000"/>
                </a:solidFill>
                <a:latin typeface="Arial"/>
                <a:ea typeface="Arial"/>
                <a:cs typeface="Arial"/>
                <a:sym typeface="Arial"/>
              </a:rPr>
              <a:t>Camelon</a:t>
            </a:r>
            <a:r>
              <a:rPr lang="en-US" sz="1070" dirty="0">
                <a:solidFill>
                  <a:srgbClr val="000000"/>
                </a:solidFill>
                <a:latin typeface="Arial"/>
                <a:ea typeface="Arial"/>
                <a:cs typeface="Arial"/>
                <a:sym typeface="Arial"/>
              </a:rPr>
              <a:t> Image Dataset</a:t>
            </a:r>
            <a:endParaRPr dirty="0"/>
          </a:p>
          <a:p>
            <a:pPr marL="171450" lvl="2" indent="-171450" algn="just">
              <a:buClr>
                <a:srgbClr val="000000"/>
              </a:buClr>
              <a:buSzPts val="1100"/>
              <a:buFont typeface="Arial"/>
              <a:buChar char="•"/>
            </a:pPr>
            <a:r>
              <a:rPr lang="en-US" sz="1100" dirty="0" err="1">
                <a:hlinkClick r:id="rId3"/>
              </a:rPr>
              <a:t>basveeling</a:t>
            </a:r>
            <a:r>
              <a:rPr lang="en-US" sz="1100" dirty="0">
                <a:hlinkClick r:id="rId3"/>
              </a:rPr>
              <a:t>/</a:t>
            </a:r>
            <a:r>
              <a:rPr lang="en-US" sz="1100" dirty="0" err="1">
                <a:hlinkClick r:id="rId3"/>
              </a:rPr>
              <a:t>pcam</a:t>
            </a:r>
            <a:r>
              <a:rPr lang="en-US" sz="1100" dirty="0">
                <a:hlinkClick r:id="rId3"/>
              </a:rPr>
              <a:t>: The </a:t>
            </a:r>
            <a:r>
              <a:rPr lang="en-US" sz="1100" dirty="0" err="1">
                <a:hlinkClick r:id="rId3"/>
              </a:rPr>
              <a:t>PatchCamelyon</a:t>
            </a:r>
            <a:r>
              <a:rPr lang="en-US" sz="1100" dirty="0">
                <a:hlinkClick r:id="rId3"/>
              </a:rPr>
              <a:t> (</a:t>
            </a:r>
            <a:r>
              <a:rPr lang="en-US" sz="1100" dirty="0" err="1">
                <a:hlinkClick r:id="rId3"/>
              </a:rPr>
              <a:t>PCam</a:t>
            </a:r>
            <a:r>
              <a:rPr lang="en-US" sz="1100" dirty="0">
                <a:hlinkClick r:id="rId3"/>
              </a:rPr>
              <a:t>) deep learning classification benchmark.</a:t>
            </a:r>
            <a:r>
              <a:rPr lang="en-US" sz="1100" dirty="0"/>
              <a:t> </a:t>
            </a:r>
          </a:p>
          <a:p>
            <a:pPr marL="171450" indent="-103504" algn="just">
              <a:buClr>
                <a:srgbClr val="000000"/>
              </a:buClr>
              <a:buSzPts val="1070"/>
            </a:pPr>
            <a:endParaRPr sz="107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7930429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3784</TotalTime>
  <Words>1108</Words>
  <Application>Microsoft Office PowerPoint</Application>
  <PresentationFormat>Widescreen</PresentationFormat>
  <Paragraphs>70</Paragraphs>
  <Slides>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Aptos</vt:lpstr>
      <vt:lpstr>Aptos Display</vt:lpstr>
      <vt:lpstr>Arial</vt:lpstr>
      <vt:lpstr>Calibri</vt:lpstr>
      <vt:lpstr>Quattrocento Sans</vt:lpstr>
      <vt:lpstr>Office Theme</vt:lpstr>
      <vt:lpstr>Problem Statement Worksheet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Benjamin Peters</dc:creator>
  <cp:lastModifiedBy>Benjamin Peters</cp:lastModifiedBy>
  <cp:revision>2</cp:revision>
  <dcterms:created xsi:type="dcterms:W3CDTF">2026-03-11T00:27:13Z</dcterms:created>
  <dcterms:modified xsi:type="dcterms:W3CDTF">2026-03-18T18:39:02Z</dcterms:modified>
</cp:coreProperties>
</file>