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9" r:id="rId2"/>
    <p:sldId id="26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93" d="100"/>
          <a:sy n="93" d="100"/>
        </p:scale>
        <p:origin x="744"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Peters" userId="83763c400eb8b5dd" providerId="LiveId" clId="{7AE7A208-551F-4015-BAFA-D67B1C1DCA48}"/>
    <pc:docChg chg="modSld">
      <pc:chgData name="Benjamin Peters" userId="83763c400eb8b5dd" providerId="LiveId" clId="{7AE7A208-551F-4015-BAFA-D67B1C1DCA48}" dt="2026-03-25T20:18:19.560" v="370" actId="20577"/>
      <pc:docMkLst>
        <pc:docMk/>
      </pc:docMkLst>
      <pc:sldChg chg="modSp mod">
        <pc:chgData name="Benjamin Peters" userId="83763c400eb8b5dd" providerId="LiveId" clId="{7AE7A208-551F-4015-BAFA-D67B1C1DCA48}" dt="2026-03-25T20:18:19.560" v="370" actId="20577"/>
        <pc:sldMkLst>
          <pc:docMk/>
          <pc:sldMk cId="1793042987" sldId="260"/>
        </pc:sldMkLst>
        <pc:spChg chg="mod">
          <ac:chgData name="Benjamin Peters" userId="83763c400eb8b5dd" providerId="LiveId" clId="{7AE7A208-551F-4015-BAFA-D67B1C1DCA48}" dt="2026-03-25T20:18:19.560" v="370" actId="20577"/>
          <ac:spMkLst>
            <pc:docMk/>
            <pc:sldMk cId="1793042987" sldId="260"/>
            <ac:spMk id="58" creationId="{4CE43150-AE31-F77C-BFCC-44D58FFAF9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A9663-9441-46D8-B21B-00BF361335DE}"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1DAF81-25AC-4140-9827-34E721541347}" type="slidenum">
              <a:rPr lang="en-US" smtClean="0"/>
              <a:t>‹#›</a:t>
            </a:fld>
            <a:endParaRPr lang="en-US"/>
          </a:p>
        </p:txBody>
      </p:sp>
    </p:spTree>
    <p:extLst>
      <p:ext uri="{BB962C8B-B14F-4D97-AF65-F5344CB8AC3E}">
        <p14:creationId xmlns:p14="http://schemas.microsoft.com/office/powerpoint/2010/main" val="344217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a:extLst>
            <a:ext uri="{FF2B5EF4-FFF2-40B4-BE49-F238E27FC236}">
              <a16:creationId xmlns:a16="http://schemas.microsoft.com/office/drawing/2014/main" id="{994B0223-B45F-83CE-1497-678FA74DCA24}"/>
            </a:ext>
          </a:extLst>
        </p:cNvPr>
        <p:cNvGrpSpPr/>
        <p:nvPr/>
      </p:nvGrpSpPr>
      <p:grpSpPr>
        <a:xfrm>
          <a:off x="0" y="0"/>
          <a:ext cx="0" cy="0"/>
          <a:chOff x="0" y="0"/>
          <a:chExt cx="0" cy="0"/>
        </a:xfrm>
      </p:grpSpPr>
      <p:sp>
        <p:nvSpPr>
          <p:cNvPr id="16" name="Google Shape;16;p1:notes">
            <a:extLst>
              <a:ext uri="{FF2B5EF4-FFF2-40B4-BE49-F238E27FC236}">
                <a16:creationId xmlns:a16="http://schemas.microsoft.com/office/drawing/2014/main" id="{1B1B7A6F-994A-66EE-D6E9-897D5D54FC3B}"/>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a:extLst>
              <a:ext uri="{FF2B5EF4-FFF2-40B4-BE49-F238E27FC236}">
                <a16:creationId xmlns:a16="http://schemas.microsoft.com/office/drawing/2014/main" id="{40156BEB-523E-1DCF-8D68-B56C32D0DEDD}"/>
              </a:ext>
            </a:extLst>
          </p:cNvPr>
          <p:cNvSpPr>
            <a:spLocks noGrp="1" noRot="1" noChangeAspect="1"/>
          </p:cNvSpPr>
          <p:nvPr>
            <p:ph type="sldImg" idx="2"/>
          </p:nvPr>
        </p:nvSpPr>
        <p:spPr>
          <a:xfrm>
            <a:off x="-4186238" y="1265238"/>
            <a:ext cx="149352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a:extLst>
              <a:ext uri="{FF2B5EF4-FFF2-40B4-BE49-F238E27FC236}">
                <a16:creationId xmlns:a16="http://schemas.microsoft.com/office/drawing/2014/main" id="{1EAD7BCC-5C56-0A27-5C22-B1F40D715D38}"/>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extLst>
      <p:ext uri="{BB962C8B-B14F-4D97-AF65-F5344CB8AC3E}">
        <p14:creationId xmlns:p14="http://schemas.microsoft.com/office/powerpoint/2010/main" val="717579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2E41ACD8-978B-4B89-49C8-F9176290F62C}"/>
            </a:ext>
          </a:extLst>
        </p:cNvPr>
        <p:cNvGrpSpPr/>
        <p:nvPr/>
      </p:nvGrpSpPr>
      <p:grpSpPr>
        <a:xfrm>
          <a:off x="0" y="0"/>
          <a:ext cx="0" cy="0"/>
          <a:chOff x="0" y="0"/>
          <a:chExt cx="0" cy="0"/>
        </a:xfrm>
      </p:grpSpPr>
      <p:sp>
        <p:nvSpPr>
          <p:cNvPr id="40" name="Google Shape;40;p4:notes">
            <a:extLst>
              <a:ext uri="{FF2B5EF4-FFF2-40B4-BE49-F238E27FC236}">
                <a16:creationId xmlns:a16="http://schemas.microsoft.com/office/drawing/2014/main" id="{B51164D3-D537-AADA-3736-8412C059E72E}"/>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2</a:t>
            </a:fld>
            <a:endParaRPr sz="1800" b="0" i="0" u="none" strike="noStrike" cap="none">
              <a:solidFill>
                <a:srgbClr val="000000"/>
              </a:solidFill>
            </a:endParaRPr>
          </a:p>
        </p:txBody>
      </p:sp>
      <p:sp>
        <p:nvSpPr>
          <p:cNvPr id="41" name="Google Shape;41;p4:notes">
            <a:extLst>
              <a:ext uri="{FF2B5EF4-FFF2-40B4-BE49-F238E27FC236}">
                <a16:creationId xmlns:a16="http://schemas.microsoft.com/office/drawing/2014/main" id="{B7D90CA5-DE70-912E-B192-4310167A3BC2}"/>
              </a:ext>
            </a:extLst>
          </p:cNvPr>
          <p:cNvSpPr>
            <a:spLocks noGrp="1" noRot="1" noChangeAspect="1"/>
          </p:cNvSpPr>
          <p:nvPr>
            <p:ph type="sldImg" idx="2"/>
          </p:nvPr>
        </p:nvSpPr>
        <p:spPr>
          <a:xfrm>
            <a:off x="-4186238" y="1265238"/>
            <a:ext cx="149352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 name="Google Shape;42;p4:notes">
            <a:extLst>
              <a:ext uri="{FF2B5EF4-FFF2-40B4-BE49-F238E27FC236}">
                <a16:creationId xmlns:a16="http://schemas.microsoft.com/office/drawing/2014/main" id="{2D52B499-7D5A-4F92-F9D0-8BEA36BFAD85}"/>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extLst>
      <p:ext uri="{BB962C8B-B14F-4D97-AF65-F5344CB8AC3E}">
        <p14:creationId xmlns:p14="http://schemas.microsoft.com/office/powerpoint/2010/main" val="886173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F9E74-8584-4213-1701-46E834EE4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B7E08D-CB21-9640-257E-634DF5001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D53670-CE1A-8227-6989-1531B04F2FAD}"/>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17416456-620F-2B95-221F-4C7C4C53D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687BB-3FE6-8DC8-D3F4-88ACB8282F7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325072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678B8-0B88-89D6-C40A-D38824600C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F03C4D-8DA2-014C-578F-8CF214C374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4E905-DEAA-2FDF-8431-0A711535FA22}"/>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F1BA87C7-8DFA-0696-A99A-99E1EEB1B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FC004-952D-D6BB-6959-6EEC9F0DC1FA}"/>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10976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FB53E-0D31-7E63-06E7-4DB81AE858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AFF9D7-9465-3859-7C5A-D6C578D1B0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58C5E5-E8F6-C355-CEE7-C05A81504775}"/>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E904119D-B279-31D9-11F9-A4589BA1B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26027-E1F1-906D-1EB6-E6A50CFEB38F}"/>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289923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1FD8-53DF-ED4A-C18D-F4CF2E8019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D3EBC0-FEE8-6457-BDA3-8038E599ED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8C13C8-2A33-17C1-71B6-BED8289047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747718-ED35-F6A5-D667-31FF8394AC46}"/>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6" name="Footer Placeholder 5">
            <a:extLst>
              <a:ext uri="{FF2B5EF4-FFF2-40B4-BE49-F238E27FC236}">
                <a16:creationId xmlns:a16="http://schemas.microsoft.com/office/drawing/2014/main" id="{FF24AB62-7962-3AF1-1CE1-9EDA91390D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54BC1-A5AF-64EB-824A-A1C7C667C0D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551163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DE02-98BE-ED7C-A890-D4AB55CB75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A2B03F-A0EF-2C9B-C70B-CB11577D32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9263BF-F90E-0194-131F-1A8B039FE2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E3FE72-7B73-2EDD-718C-EB0119A321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2C0337-04C8-A423-CCB6-40CF762751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994269-C970-D04A-7922-CBDF9CEE5A34}"/>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8" name="Footer Placeholder 7">
            <a:extLst>
              <a:ext uri="{FF2B5EF4-FFF2-40B4-BE49-F238E27FC236}">
                <a16:creationId xmlns:a16="http://schemas.microsoft.com/office/drawing/2014/main" id="{B92B90DC-01E5-9404-4496-5CD4959CA2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A38E54-6608-4A66-4D12-08D3CF4D35F0}"/>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819665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2EF1-D912-006A-FD94-7C6C5B5EB6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92989-20AB-464D-5099-EC755314DA77}"/>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4" name="Footer Placeholder 3">
            <a:extLst>
              <a:ext uri="{FF2B5EF4-FFF2-40B4-BE49-F238E27FC236}">
                <a16:creationId xmlns:a16="http://schemas.microsoft.com/office/drawing/2014/main" id="{42DD5579-CEA7-11AE-D278-528DF669BE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D0BA2D-8E5D-4102-9369-59A7B2B51DB4}"/>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468685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EC5D2-8457-5725-0B3E-81F0938D9F47}"/>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3" name="Footer Placeholder 2">
            <a:extLst>
              <a:ext uri="{FF2B5EF4-FFF2-40B4-BE49-F238E27FC236}">
                <a16:creationId xmlns:a16="http://schemas.microsoft.com/office/drawing/2014/main" id="{D3D061E2-8CB0-1775-70E9-8B07FABFE1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669FE8-E43C-3F48-7B73-77E3DC910448}"/>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82842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6C1C-100E-3932-1AC2-D819218B1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F4B478-4309-3B91-F820-07DA0D234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B14A49-201F-ABCA-DBDE-8E8B8527F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18A88-AA95-7B41-ADD2-A5CB25C27E6A}"/>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6" name="Footer Placeholder 5">
            <a:extLst>
              <a:ext uri="{FF2B5EF4-FFF2-40B4-BE49-F238E27FC236}">
                <a16:creationId xmlns:a16="http://schemas.microsoft.com/office/drawing/2014/main" id="{7CCA4011-CC28-5A27-4523-82F5FB2E6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4AC56-A55F-336C-4186-6A009AC51268}"/>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24076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939A-9763-9676-2410-E3C3B18CE7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6DEB4E-87E3-3F20-21F6-7DDD230B3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7D6DD-C052-2A50-52B7-A696D05A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6A9465-10AC-BB16-A324-F95035C5A2D1}"/>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6" name="Footer Placeholder 5">
            <a:extLst>
              <a:ext uri="{FF2B5EF4-FFF2-40B4-BE49-F238E27FC236}">
                <a16:creationId xmlns:a16="http://schemas.microsoft.com/office/drawing/2014/main" id="{92B689D6-F055-13D6-4273-F20E3F544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CD21A-B869-9607-F0E8-38D3818B9545}"/>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734429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FB18-1495-EC3A-CF11-EAEFCC1B62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6937D7-5FFE-A0B0-8066-C15BDDB00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9ABA4-50EA-85C2-E854-BB094CDF4406}"/>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DA1E427B-3F2B-EB38-09FE-19C9AF423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08A5D-920F-F98C-B688-9A12F2D1A84D}"/>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46471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8370D-DB3D-EA50-73A3-DF1B64AEF6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A0AF40-CAAF-C159-734F-1099B934FB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C6352-838F-6B07-83D1-5E70482F993E}"/>
              </a:ext>
            </a:extLst>
          </p:cNvPr>
          <p:cNvSpPr>
            <a:spLocks noGrp="1"/>
          </p:cNvSpPr>
          <p:nvPr>
            <p:ph type="dt" sz="half" idx="10"/>
          </p:nvPr>
        </p:nvSpPr>
        <p:spPr/>
        <p:txBody>
          <a:body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A3DA9284-1E74-AE5F-F39B-C1968C09D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7AC7F-B8FE-F593-9B35-C05E2589390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25183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261" y="234864"/>
            <a:ext cx="11725484"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59776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1C9803-2EE7-172C-B6DF-ED33608293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95D81E-5608-2395-5E2E-E0D3AA4C1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D1B41-E055-2AC8-EE9E-AA706FCA2A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3F02CF-2A44-443D-BAEB-FBF496450064}" type="datetimeFigureOut">
              <a:rPr lang="en-US" smtClean="0"/>
              <a:t>3/21/2026</a:t>
            </a:fld>
            <a:endParaRPr lang="en-US"/>
          </a:p>
        </p:txBody>
      </p:sp>
      <p:sp>
        <p:nvSpPr>
          <p:cNvPr id="5" name="Footer Placeholder 4">
            <a:extLst>
              <a:ext uri="{FF2B5EF4-FFF2-40B4-BE49-F238E27FC236}">
                <a16:creationId xmlns:a16="http://schemas.microsoft.com/office/drawing/2014/main" id="{F0A207E3-EDF3-3B73-0086-603B6C533D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F33382-5B72-750C-D2E5-E74A4793D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68235E-3723-44ED-A60E-457CB36AB67F}" type="slidenum">
              <a:rPr lang="en-US" smtClean="0"/>
              <a:t>‹#›</a:t>
            </a:fld>
            <a:endParaRPr lang="en-US"/>
          </a:p>
        </p:txBody>
      </p:sp>
    </p:spTree>
    <p:extLst>
      <p:ext uri="{BB962C8B-B14F-4D97-AF65-F5344CB8AC3E}">
        <p14:creationId xmlns:p14="http://schemas.microsoft.com/office/powerpoint/2010/main" val="2369623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basveeling/pca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a16="http://schemas.microsoft.com/office/drawing/2014/main" id="{69508DF5-0360-4B11-AC33-2D1CA2914BAD}"/>
            </a:ext>
          </a:extLst>
        </p:cNvPr>
        <p:cNvGrpSpPr/>
        <p:nvPr/>
      </p:nvGrpSpPr>
      <p:grpSpPr>
        <a:xfrm>
          <a:off x="0" y="0"/>
          <a:ext cx="0" cy="0"/>
          <a:chOff x="0" y="0"/>
          <a:chExt cx="0" cy="0"/>
        </a:xfrm>
      </p:grpSpPr>
      <p:sp>
        <p:nvSpPr>
          <p:cNvPr id="20" name="Google Shape;20;p1">
            <a:extLst>
              <a:ext uri="{FF2B5EF4-FFF2-40B4-BE49-F238E27FC236}">
                <a16:creationId xmlns:a16="http://schemas.microsoft.com/office/drawing/2014/main" id="{CA8845FF-645F-1936-03FE-46795AF6450C}"/>
              </a:ext>
            </a:extLst>
          </p:cNvPr>
          <p:cNvSpPr/>
          <p:nvPr/>
        </p:nvSpPr>
        <p:spPr>
          <a:xfrm>
            <a:off x="1661949" y="1576014"/>
            <a:ext cx="8393229"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a:buClr>
                <a:srgbClr val="000000"/>
              </a:buClr>
              <a:buSzPts val="1428"/>
            </a:pPr>
            <a:endParaRPr sz="1428">
              <a:solidFill>
                <a:srgbClr val="000000"/>
              </a:solidFill>
              <a:latin typeface="Arial"/>
              <a:ea typeface="Arial"/>
              <a:cs typeface="Arial"/>
              <a:sym typeface="Arial"/>
            </a:endParaRPr>
          </a:p>
        </p:txBody>
      </p:sp>
      <p:sp>
        <p:nvSpPr>
          <p:cNvPr id="21" name="Google Shape;21;p1">
            <a:extLst>
              <a:ext uri="{FF2B5EF4-FFF2-40B4-BE49-F238E27FC236}">
                <a16:creationId xmlns:a16="http://schemas.microsoft.com/office/drawing/2014/main" id="{25477E12-017C-A850-EA8A-ECA6BA11F021}"/>
              </a:ext>
            </a:extLst>
          </p:cNvPr>
          <p:cNvSpPr txBox="1"/>
          <p:nvPr/>
        </p:nvSpPr>
        <p:spPr>
          <a:xfrm>
            <a:off x="1667108" y="1964976"/>
            <a:ext cx="8135602" cy="1585022"/>
          </a:xfrm>
          <a:prstGeom prst="rect">
            <a:avLst/>
          </a:prstGeom>
          <a:noFill/>
          <a:ln>
            <a:noFill/>
          </a:ln>
        </p:spPr>
        <p:txBody>
          <a:bodyPr spcFirstLastPara="1" wrap="square" lIns="91425" tIns="45700" rIns="91425" bIns="45700" anchor="t" anchorCtr="0">
            <a:noAutofit/>
          </a:bodyPr>
          <a:lstStyle/>
          <a:p>
            <a:pPr algn="just">
              <a:buClr>
                <a:srgbClr val="000000"/>
              </a:buClr>
              <a:buSzPts val="1070"/>
            </a:pPr>
            <a:r>
              <a:rPr lang="en-AU" sz="1070" dirty="0">
                <a:solidFill>
                  <a:srgbClr val="000000"/>
                </a:solidFill>
                <a:latin typeface="Arial"/>
                <a:ea typeface="Arial"/>
                <a:cs typeface="Arial"/>
                <a:sym typeface="Arial"/>
              </a:rPr>
              <a:t>Until recently, histology images of tissue samples were a way for doctors to diagnose their patients for cancer. These images were diagnosed using human eyes, as good as they are, have their limitations. They can become tired after looking at many images and thus may lead to misdiagnosis. To alleviate this issue, it is possible to use Machine Learning to categorize these images as cancerous or non-cancerous. With machine learning, the issues that can come along with human interpretation of very complicated images may not be an issue any longer.</a:t>
            </a:r>
            <a:endParaRPr sz="1400" dirty="0">
              <a:solidFill>
                <a:srgbClr val="000000"/>
              </a:solidFill>
              <a:latin typeface="Arial"/>
              <a:ea typeface="Arial"/>
              <a:cs typeface="Arial"/>
              <a:sym typeface="Arial"/>
            </a:endParaRPr>
          </a:p>
        </p:txBody>
      </p:sp>
      <p:sp>
        <p:nvSpPr>
          <p:cNvPr id="22" name="Google Shape;22;p1">
            <a:extLst>
              <a:ext uri="{FF2B5EF4-FFF2-40B4-BE49-F238E27FC236}">
                <a16:creationId xmlns:a16="http://schemas.microsoft.com/office/drawing/2014/main" id="{57FFBA75-CFED-C2CD-F118-B2F664EF1F99}"/>
              </a:ext>
            </a:extLst>
          </p:cNvPr>
          <p:cNvSpPr/>
          <p:nvPr/>
        </p:nvSpPr>
        <p:spPr>
          <a:xfrm>
            <a:off x="1742937" y="1618128"/>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1</a:t>
            </a:r>
            <a:endParaRPr sz="1428">
              <a:solidFill>
                <a:schemeClr val="lt1"/>
              </a:solidFill>
              <a:latin typeface="Arial"/>
              <a:ea typeface="Arial"/>
              <a:cs typeface="Arial"/>
              <a:sym typeface="Arial"/>
            </a:endParaRPr>
          </a:p>
        </p:txBody>
      </p:sp>
      <p:sp>
        <p:nvSpPr>
          <p:cNvPr id="23" name="Google Shape;23;p1">
            <a:extLst>
              <a:ext uri="{FF2B5EF4-FFF2-40B4-BE49-F238E27FC236}">
                <a16:creationId xmlns:a16="http://schemas.microsoft.com/office/drawing/2014/main" id="{CAA5A399-E238-FB92-CEC9-CFE89F85148A}"/>
              </a:ext>
            </a:extLst>
          </p:cNvPr>
          <p:cNvSpPr/>
          <p:nvPr/>
        </p:nvSpPr>
        <p:spPr>
          <a:xfrm>
            <a:off x="2125195" y="1650182"/>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Context</a:t>
            </a:r>
            <a:endParaRPr sz="1400">
              <a:solidFill>
                <a:srgbClr val="000000"/>
              </a:solidFill>
              <a:latin typeface="Arial"/>
              <a:ea typeface="Arial"/>
              <a:cs typeface="Arial"/>
              <a:sym typeface="Arial"/>
            </a:endParaRPr>
          </a:p>
        </p:txBody>
      </p:sp>
      <p:sp>
        <p:nvSpPr>
          <p:cNvPr id="24" name="Google Shape;24;p1">
            <a:extLst>
              <a:ext uri="{FF2B5EF4-FFF2-40B4-BE49-F238E27FC236}">
                <a16:creationId xmlns:a16="http://schemas.microsoft.com/office/drawing/2014/main" id="{89E69360-C7DD-C74D-64CB-43ED325154FF}"/>
              </a:ext>
            </a:extLst>
          </p:cNvPr>
          <p:cNvSpPr/>
          <p:nvPr/>
        </p:nvSpPr>
        <p:spPr>
          <a:xfrm>
            <a:off x="1742937" y="2928258"/>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2</a:t>
            </a:r>
            <a:endParaRPr sz="1400">
              <a:solidFill>
                <a:srgbClr val="000000"/>
              </a:solidFill>
              <a:latin typeface="Arial"/>
              <a:ea typeface="Arial"/>
              <a:cs typeface="Arial"/>
              <a:sym typeface="Arial"/>
            </a:endParaRPr>
          </a:p>
        </p:txBody>
      </p:sp>
      <p:sp>
        <p:nvSpPr>
          <p:cNvPr id="25" name="Google Shape;25;p1">
            <a:extLst>
              <a:ext uri="{FF2B5EF4-FFF2-40B4-BE49-F238E27FC236}">
                <a16:creationId xmlns:a16="http://schemas.microsoft.com/office/drawing/2014/main" id="{262865F6-7334-1CD8-4184-39F2F20A5EA3}"/>
              </a:ext>
            </a:extLst>
          </p:cNvPr>
          <p:cNvSpPr/>
          <p:nvPr/>
        </p:nvSpPr>
        <p:spPr>
          <a:xfrm>
            <a:off x="2125195" y="2960314"/>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Criteria for success</a:t>
            </a:r>
            <a:endParaRPr sz="1400">
              <a:solidFill>
                <a:srgbClr val="000000"/>
              </a:solidFill>
              <a:latin typeface="Arial"/>
              <a:ea typeface="Arial"/>
              <a:cs typeface="Arial"/>
              <a:sym typeface="Arial"/>
            </a:endParaRPr>
          </a:p>
        </p:txBody>
      </p:sp>
      <p:sp>
        <p:nvSpPr>
          <p:cNvPr id="26" name="Google Shape;26;p1">
            <a:extLst>
              <a:ext uri="{FF2B5EF4-FFF2-40B4-BE49-F238E27FC236}">
                <a16:creationId xmlns:a16="http://schemas.microsoft.com/office/drawing/2014/main" id="{1767D7D1-BD9A-2FEF-7E66-AF4AD1F5E0EE}"/>
              </a:ext>
            </a:extLst>
          </p:cNvPr>
          <p:cNvSpPr/>
          <p:nvPr/>
        </p:nvSpPr>
        <p:spPr>
          <a:xfrm>
            <a:off x="1742937" y="4037522"/>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3</a:t>
            </a:r>
            <a:endParaRPr sz="1400">
              <a:solidFill>
                <a:srgbClr val="000000"/>
              </a:solidFill>
              <a:latin typeface="Arial"/>
              <a:ea typeface="Arial"/>
              <a:cs typeface="Arial"/>
              <a:sym typeface="Arial"/>
            </a:endParaRPr>
          </a:p>
        </p:txBody>
      </p:sp>
      <p:sp>
        <p:nvSpPr>
          <p:cNvPr id="27" name="Google Shape;27;p1">
            <a:extLst>
              <a:ext uri="{FF2B5EF4-FFF2-40B4-BE49-F238E27FC236}">
                <a16:creationId xmlns:a16="http://schemas.microsoft.com/office/drawing/2014/main" id="{A6E8073D-B175-CE8A-4CC1-DA67E3670785}"/>
              </a:ext>
            </a:extLst>
          </p:cNvPr>
          <p:cNvSpPr/>
          <p:nvPr/>
        </p:nvSpPr>
        <p:spPr>
          <a:xfrm>
            <a:off x="2125195" y="4071808"/>
            <a:ext cx="3597454" cy="219740"/>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Scope of solution space </a:t>
            </a:r>
            <a:endParaRPr sz="1400">
              <a:solidFill>
                <a:srgbClr val="000000"/>
              </a:solidFill>
              <a:latin typeface="Arial"/>
              <a:ea typeface="Arial"/>
              <a:cs typeface="Arial"/>
              <a:sym typeface="Arial"/>
            </a:endParaRPr>
          </a:p>
        </p:txBody>
      </p:sp>
      <p:sp>
        <p:nvSpPr>
          <p:cNvPr id="28" name="Google Shape;28;p1">
            <a:extLst>
              <a:ext uri="{FF2B5EF4-FFF2-40B4-BE49-F238E27FC236}">
                <a16:creationId xmlns:a16="http://schemas.microsoft.com/office/drawing/2014/main" id="{89BB8299-0E32-AB92-FAEC-59188C1A3E66}"/>
              </a:ext>
            </a:extLst>
          </p:cNvPr>
          <p:cNvSpPr txBox="1"/>
          <p:nvPr/>
        </p:nvSpPr>
        <p:spPr>
          <a:xfrm>
            <a:off x="1654848" y="4475700"/>
            <a:ext cx="8135602" cy="1032508"/>
          </a:xfrm>
          <a:prstGeom prst="rect">
            <a:avLst/>
          </a:prstGeom>
          <a:noFill/>
          <a:ln>
            <a:noFill/>
          </a:ln>
        </p:spPr>
        <p:txBody>
          <a:bodyPr spcFirstLastPara="1" wrap="square" lIns="91425" tIns="45700" rIns="91425" bIns="45700" anchor="t" anchorCtr="0">
            <a:noAutofit/>
          </a:bodyPr>
          <a:lstStyle/>
          <a:p>
            <a:pPr algn="just">
              <a:buClr>
                <a:srgbClr val="000000"/>
              </a:buClr>
              <a:buSzPts val="1071"/>
            </a:pPr>
            <a:r>
              <a:rPr lang="en-AU" sz="1071" dirty="0">
                <a:solidFill>
                  <a:srgbClr val="000000"/>
                </a:solidFill>
                <a:latin typeface="Arial"/>
                <a:ea typeface="Arial"/>
                <a:cs typeface="Arial"/>
                <a:sym typeface="Arial"/>
              </a:rPr>
              <a:t>In order to categorize </a:t>
            </a:r>
            <a:r>
              <a:rPr lang="en-AU" sz="1071" dirty="0" err="1">
                <a:solidFill>
                  <a:srgbClr val="000000"/>
                </a:solidFill>
                <a:latin typeface="Arial"/>
                <a:ea typeface="Arial"/>
                <a:cs typeface="Arial"/>
                <a:sym typeface="Arial"/>
              </a:rPr>
              <a:t>imgaes</a:t>
            </a:r>
            <a:r>
              <a:rPr lang="en-AU" sz="1071" dirty="0">
                <a:solidFill>
                  <a:srgbClr val="000000"/>
                </a:solidFill>
                <a:latin typeface="Arial"/>
                <a:ea typeface="Arial"/>
                <a:cs typeface="Arial"/>
                <a:sym typeface="Arial"/>
              </a:rPr>
              <a:t> as cancerous or not, a thorough confirmation that the images are completed (ex. no missing pixels), labelled as cancerous or not, all the same size, and of similar coloration (no unique </a:t>
            </a:r>
            <a:r>
              <a:rPr lang="en-AU" sz="1071" dirty="0" err="1">
                <a:solidFill>
                  <a:srgbClr val="000000"/>
                </a:solidFill>
                <a:latin typeface="Arial"/>
                <a:ea typeface="Arial"/>
                <a:cs typeface="Arial"/>
                <a:sym typeface="Arial"/>
              </a:rPr>
              <a:t>colors</a:t>
            </a:r>
            <a:r>
              <a:rPr lang="en-AU" sz="1071" dirty="0">
                <a:solidFill>
                  <a:srgbClr val="000000"/>
                </a:solidFill>
                <a:latin typeface="Arial"/>
                <a:ea typeface="Arial"/>
                <a:cs typeface="Arial"/>
                <a:sym typeface="Arial"/>
              </a:rPr>
              <a:t> from slide to slide) will be completed. Also, in order to make sure future images do not need to be oriented in a certain way, each image will be rotated and flipped (total of 8 images per initial image in dataset). After vectorization of the images, a model will be built and optimized to classify this data. </a:t>
            </a:r>
            <a:r>
              <a:rPr lang="en-AU" sz="1071" b="1" dirty="0">
                <a:solidFill>
                  <a:srgbClr val="000000"/>
                </a:solidFill>
                <a:latin typeface="Arial"/>
                <a:ea typeface="Arial"/>
                <a:cs typeface="Arial"/>
                <a:sym typeface="Arial"/>
              </a:rPr>
              <a:t>A model will be built using the Patch </a:t>
            </a:r>
            <a:r>
              <a:rPr lang="en-AU" sz="1071" b="1" dirty="0" err="1">
                <a:solidFill>
                  <a:srgbClr val="000000"/>
                </a:solidFill>
                <a:latin typeface="Arial"/>
                <a:ea typeface="Arial"/>
                <a:cs typeface="Arial"/>
                <a:sym typeface="Arial"/>
              </a:rPr>
              <a:t>Camelon</a:t>
            </a:r>
            <a:r>
              <a:rPr lang="en-AU" sz="1071" b="1" dirty="0">
                <a:solidFill>
                  <a:srgbClr val="000000"/>
                </a:solidFill>
                <a:latin typeface="Arial"/>
                <a:ea typeface="Arial"/>
                <a:cs typeface="Arial"/>
                <a:sym typeface="Arial"/>
              </a:rPr>
              <a:t> dataset to determine a model to categorize histology images as cancerous or not. </a:t>
            </a:r>
            <a:endParaRPr sz="1071" b="1" dirty="0">
              <a:solidFill>
                <a:srgbClr val="000000"/>
              </a:solidFill>
              <a:latin typeface="Arial"/>
              <a:ea typeface="Arial"/>
              <a:cs typeface="Arial"/>
              <a:sym typeface="Arial"/>
            </a:endParaRPr>
          </a:p>
        </p:txBody>
      </p:sp>
      <p:sp>
        <p:nvSpPr>
          <p:cNvPr id="29" name="Google Shape;29;p1">
            <a:extLst>
              <a:ext uri="{FF2B5EF4-FFF2-40B4-BE49-F238E27FC236}">
                <a16:creationId xmlns:a16="http://schemas.microsoft.com/office/drawing/2014/main" id="{D57C3298-D2BB-BF4F-4853-4B9DB5B203C6}"/>
              </a:ext>
            </a:extLst>
          </p:cNvPr>
          <p:cNvSpPr/>
          <p:nvPr/>
        </p:nvSpPr>
        <p:spPr>
          <a:xfrm>
            <a:off x="8157337" y="652441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30" name="Google Shape;30;p1">
            <a:extLst>
              <a:ext uri="{FF2B5EF4-FFF2-40B4-BE49-F238E27FC236}">
                <a16:creationId xmlns:a16="http://schemas.microsoft.com/office/drawing/2014/main" id="{AFBD3B95-DE8F-1B00-E8F5-EF7CC4163DC5}"/>
              </a:ext>
            </a:extLst>
          </p:cNvPr>
          <p:cNvSpPr/>
          <p:nvPr/>
        </p:nvSpPr>
        <p:spPr>
          <a:xfrm>
            <a:off x="8552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D</a:t>
            </a:r>
            <a:endParaRPr sz="1400">
              <a:solidFill>
                <a:srgbClr val="000000"/>
              </a:solidFill>
              <a:latin typeface="Arial"/>
              <a:ea typeface="Arial"/>
              <a:cs typeface="Arial"/>
              <a:sym typeface="Arial"/>
            </a:endParaRPr>
          </a:p>
        </p:txBody>
      </p:sp>
      <p:sp>
        <p:nvSpPr>
          <p:cNvPr id="31" name="Google Shape;31;p1">
            <a:extLst>
              <a:ext uri="{FF2B5EF4-FFF2-40B4-BE49-F238E27FC236}">
                <a16:creationId xmlns:a16="http://schemas.microsoft.com/office/drawing/2014/main" id="{7376AF25-278C-1CEC-CC2B-9EFC51A67542}"/>
              </a:ext>
            </a:extLst>
          </p:cNvPr>
          <p:cNvSpPr/>
          <p:nvPr/>
        </p:nvSpPr>
        <p:spPr>
          <a:xfrm>
            <a:off x="8976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E</a:t>
            </a:r>
            <a:endParaRPr sz="1400">
              <a:solidFill>
                <a:srgbClr val="000000"/>
              </a:solidFill>
              <a:latin typeface="Arial"/>
              <a:ea typeface="Arial"/>
              <a:cs typeface="Arial"/>
              <a:sym typeface="Arial"/>
            </a:endParaRPr>
          </a:p>
        </p:txBody>
      </p:sp>
      <p:sp>
        <p:nvSpPr>
          <p:cNvPr id="32" name="Google Shape;32;p1">
            <a:extLst>
              <a:ext uri="{FF2B5EF4-FFF2-40B4-BE49-F238E27FC236}">
                <a16:creationId xmlns:a16="http://schemas.microsoft.com/office/drawing/2014/main" id="{3DB2D94E-7AB3-EA32-44A0-94A16F31E26C}"/>
              </a:ext>
            </a:extLst>
          </p:cNvPr>
          <p:cNvSpPr/>
          <p:nvPr/>
        </p:nvSpPr>
        <p:spPr>
          <a:xfrm>
            <a:off x="9370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I</a:t>
            </a:r>
            <a:endParaRPr sz="1400">
              <a:solidFill>
                <a:srgbClr val="000000"/>
              </a:solidFill>
              <a:latin typeface="Arial"/>
              <a:ea typeface="Arial"/>
              <a:cs typeface="Arial"/>
              <a:sym typeface="Arial"/>
            </a:endParaRPr>
          </a:p>
        </p:txBody>
      </p:sp>
      <p:sp>
        <p:nvSpPr>
          <p:cNvPr id="33" name="Google Shape;33;p1">
            <a:extLst>
              <a:ext uri="{FF2B5EF4-FFF2-40B4-BE49-F238E27FC236}">
                <a16:creationId xmlns:a16="http://schemas.microsoft.com/office/drawing/2014/main" id="{199C5C10-347D-4782-9EDD-1C162703EB4C}"/>
              </a:ext>
            </a:extLst>
          </p:cNvPr>
          <p:cNvSpPr/>
          <p:nvPr/>
        </p:nvSpPr>
        <p:spPr>
          <a:xfrm>
            <a:off x="9769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P</a:t>
            </a:r>
            <a:endParaRPr sz="1400">
              <a:solidFill>
                <a:srgbClr val="000000"/>
              </a:solidFill>
              <a:latin typeface="Arial"/>
              <a:ea typeface="Arial"/>
              <a:cs typeface="Arial"/>
              <a:sym typeface="Arial"/>
            </a:endParaRPr>
          </a:p>
        </p:txBody>
      </p:sp>
      <p:sp>
        <p:nvSpPr>
          <p:cNvPr id="34" name="Google Shape;34;p1">
            <a:extLst>
              <a:ext uri="{FF2B5EF4-FFF2-40B4-BE49-F238E27FC236}">
                <a16:creationId xmlns:a16="http://schemas.microsoft.com/office/drawing/2014/main" id="{2CAD89EA-474D-8401-4642-2791A206FF35}"/>
              </a:ext>
            </a:extLst>
          </p:cNvPr>
          <p:cNvSpPr/>
          <p:nvPr/>
        </p:nvSpPr>
        <p:spPr>
          <a:xfrm>
            <a:off x="9623130" y="70712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35" name="Google Shape;35;p1">
            <a:extLst>
              <a:ext uri="{FF2B5EF4-FFF2-40B4-BE49-F238E27FC236}">
                <a16:creationId xmlns:a16="http://schemas.microsoft.com/office/drawing/2014/main" id="{CF43DFFB-7B84-93C4-2170-8659C959215A}"/>
              </a:ext>
            </a:extLst>
          </p:cNvPr>
          <p:cNvSpPr/>
          <p:nvPr/>
        </p:nvSpPr>
        <p:spPr>
          <a:xfrm>
            <a:off x="1645750" y="116632"/>
            <a:ext cx="7724912" cy="1192040"/>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algn="ctr">
              <a:buClr>
                <a:srgbClr val="000000"/>
              </a:buClr>
              <a:buSzPts val="1800"/>
            </a:pPr>
            <a:endParaRPr>
              <a:solidFill>
                <a:schemeClr val="dk1"/>
              </a:solidFill>
              <a:latin typeface="Arial"/>
              <a:ea typeface="Arial"/>
              <a:cs typeface="Arial"/>
              <a:sym typeface="Arial"/>
            </a:endParaRPr>
          </a:p>
        </p:txBody>
      </p:sp>
      <p:sp>
        <p:nvSpPr>
          <p:cNvPr id="36" name="Google Shape;36;p1">
            <a:extLst>
              <a:ext uri="{FF2B5EF4-FFF2-40B4-BE49-F238E27FC236}">
                <a16:creationId xmlns:a16="http://schemas.microsoft.com/office/drawing/2014/main" id="{6C1F143F-EFCD-1719-0820-90A2AF4BD1BA}"/>
              </a:ext>
            </a:extLst>
          </p:cNvPr>
          <p:cNvSpPr txBox="1">
            <a:spLocks noGrp="1"/>
          </p:cNvSpPr>
          <p:nvPr>
            <p:ph type="title"/>
          </p:nvPr>
        </p:nvSpPr>
        <p:spPr>
          <a:xfrm>
            <a:off x="1708140" y="134591"/>
            <a:ext cx="8793596" cy="307777"/>
          </a:xfrm>
          <a:prstGeom prst="rect">
            <a:avLst/>
          </a:prstGeom>
          <a:noFill/>
          <a:ln>
            <a:noFill/>
          </a:ln>
        </p:spPr>
        <p:txBody>
          <a:bodyPr spcFirstLastPara="1" vert="horz" wrap="square" lIns="0" tIns="0" rIns="0" bIns="0" rtlCol="0" anchor="t" anchorCtr="0">
            <a:noAutofit/>
          </a:bodyPr>
          <a:lstStyle/>
          <a:p>
            <a:r>
              <a:rPr lang="en-AU" sz="2000" dirty="0">
                <a:solidFill>
                  <a:srgbClr val="29748D"/>
                </a:solidFill>
                <a:latin typeface="Quattrocento Sans"/>
                <a:ea typeface="Quattrocento Sans"/>
                <a:cs typeface="Quattrocento Sans"/>
                <a:sym typeface="Quattrocento Sans"/>
              </a:rPr>
              <a:t>Problem Statement Worksheet</a:t>
            </a:r>
            <a:endParaRPr dirty="0"/>
          </a:p>
        </p:txBody>
      </p:sp>
      <p:sp>
        <p:nvSpPr>
          <p:cNvPr id="37" name="Google Shape;37;p1">
            <a:extLst>
              <a:ext uri="{FF2B5EF4-FFF2-40B4-BE49-F238E27FC236}">
                <a16:creationId xmlns:a16="http://schemas.microsoft.com/office/drawing/2014/main" id="{EF5CE3FA-1EFB-AD9E-42C3-2EF313742DF5}"/>
              </a:ext>
            </a:extLst>
          </p:cNvPr>
          <p:cNvSpPr txBox="1"/>
          <p:nvPr/>
        </p:nvSpPr>
        <p:spPr>
          <a:xfrm>
            <a:off x="1708141" y="396524"/>
            <a:ext cx="7556945" cy="917457"/>
          </a:xfrm>
          <a:prstGeom prst="rect">
            <a:avLst/>
          </a:prstGeom>
          <a:noFill/>
          <a:ln>
            <a:noFill/>
          </a:ln>
        </p:spPr>
        <p:txBody>
          <a:bodyPr spcFirstLastPara="1" wrap="square" lIns="91425" tIns="45700" rIns="91425" bIns="45700" anchor="t" anchorCtr="0">
            <a:noAutofit/>
          </a:bodyPr>
          <a:lstStyle/>
          <a:p>
            <a:r>
              <a:rPr lang="en-AU" sz="1400" b="1" dirty="0">
                <a:solidFill>
                  <a:srgbClr val="000000"/>
                </a:solidFill>
                <a:latin typeface="Arial"/>
                <a:ea typeface="Arial"/>
                <a:cs typeface="Arial"/>
                <a:sym typeface="Arial"/>
              </a:rPr>
              <a:t>Cancer detection using histology slide images may help increase the accuracy of cancer detection and increase the rate at which these images are </a:t>
            </a:r>
            <a:r>
              <a:rPr lang="en-AU" sz="1400" b="1" dirty="0" err="1">
                <a:solidFill>
                  <a:srgbClr val="000000"/>
                </a:solidFill>
                <a:latin typeface="Arial"/>
                <a:ea typeface="Arial"/>
                <a:cs typeface="Arial"/>
                <a:sym typeface="Arial"/>
              </a:rPr>
              <a:t>analyzed</a:t>
            </a:r>
            <a:r>
              <a:rPr lang="en-AU" sz="1400" b="1" dirty="0">
                <a:solidFill>
                  <a:srgbClr val="000000"/>
                </a:solidFill>
                <a:latin typeface="Arial"/>
                <a:ea typeface="Arial"/>
                <a:cs typeface="Arial"/>
                <a:sym typeface="Arial"/>
              </a:rPr>
              <a:t>. This may allow for better cancer detection for both physicians and patients, saving lives. This project will be completed by </a:t>
            </a:r>
            <a:r>
              <a:rPr lang="en-AU" b="1" dirty="0"/>
              <a:t>4/11/2026</a:t>
            </a:r>
            <a:endParaRPr dirty="0"/>
          </a:p>
        </p:txBody>
      </p:sp>
      <p:sp>
        <p:nvSpPr>
          <p:cNvPr id="38" name="Google Shape;38;p1">
            <a:extLst>
              <a:ext uri="{FF2B5EF4-FFF2-40B4-BE49-F238E27FC236}">
                <a16:creationId xmlns:a16="http://schemas.microsoft.com/office/drawing/2014/main" id="{E5363A18-287E-7D97-A659-6902F26CF190}"/>
              </a:ext>
            </a:extLst>
          </p:cNvPr>
          <p:cNvSpPr txBox="1"/>
          <p:nvPr/>
        </p:nvSpPr>
        <p:spPr>
          <a:xfrm>
            <a:off x="1703552" y="3273261"/>
            <a:ext cx="8135602" cy="1585022"/>
          </a:xfrm>
          <a:prstGeom prst="rect">
            <a:avLst/>
          </a:prstGeom>
          <a:noFill/>
          <a:ln>
            <a:noFill/>
          </a:ln>
        </p:spPr>
        <p:txBody>
          <a:bodyPr spcFirstLastPara="1" wrap="square" lIns="91425" tIns="45700" rIns="91425" bIns="45700" anchor="t" anchorCtr="0">
            <a:noAutofit/>
          </a:bodyPr>
          <a:lstStyle/>
          <a:p>
            <a:pPr algn="just">
              <a:buClr>
                <a:srgbClr val="000000"/>
              </a:buClr>
              <a:buSzPts val="1070"/>
            </a:pPr>
            <a:r>
              <a:rPr lang="en-AU" sz="1070" dirty="0">
                <a:solidFill>
                  <a:srgbClr val="000000"/>
                </a:solidFill>
                <a:latin typeface="Arial"/>
                <a:ea typeface="Arial"/>
                <a:cs typeface="Arial"/>
                <a:sym typeface="Arial"/>
              </a:rPr>
              <a:t>A model will be built and optimized to categorize a given set of cancerous/non-cancerous histology slide images from the Patch </a:t>
            </a:r>
            <a:r>
              <a:rPr lang="en-AU" sz="1070" dirty="0" err="1">
                <a:solidFill>
                  <a:srgbClr val="000000"/>
                </a:solidFill>
                <a:latin typeface="Arial"/>
                <a:ea typeface="Arial"/>
                <a:cs typeface="Arial"/>
                <a:sym typeface="Arial"/>
              </a:rPr>
              <a:t>Camelon</a:t>
            </a:r>
            <a:r>
              <a:rPr lang="en-AU" sz="1070" dirty="0">
                <a:solidFill>
                  <a:srgbClr val="000000"/>
                </a:solidFill>
                <a:latin typeface="Arial"/>
                <a:ea typeface="Arial"/>
                <a:cs typeface="Arial"/>
                <a:sym typeface="Arial"/>
              </a:rPr>
              <a:t> dataset. This model will reach &gt;90% accuracy and the analysis of an image will be complete within 2 seconds. Ideally, this model will be able to work with JPEG images. This project will be completed by 4/11/2026.</a:t>
            </a:r>
            <a:endParaRPr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0271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a:extLst>
            <a:ext uri="{FF2B5EF4-FFF2-40B4-BE49-F238E27FC236}">
              <a16:creationId xmlns:a16="http://schemas.microsoft.com/office/drawing/2014/main" id="{107A89FE-FADB-D3E9-40F5-F19D888BC4DD}"/>
            </a:ext>
          </a:extLst>
        </p:cNvPr>
        <p:cNvGrpSpPr/>
        <p:nvPr/>
      </p:nvGrpSpPr>
      <p:grpSpPr>
        <a:xfrm>
          <a:off x="0" y="0"/>
          <a:ext cx="0" cy="0"/>
          <a:chOff x="0" y="0"/>
          <a:chExt cx="0" cy="0"/>
        </a:xfrm>
      </p:grpSpPr>
      <p:sp>
        <p:nvSpPr>
          <p:cNvPr id="44" name="Google Shape;44;p4">
            <a:extLst>
              <a:ext uri="{FF2B5EF4-FFF2-40B4-BE49-F238E27FC236}">
                <a16:creationId xmlns:a16="http://schemas.microsoft.com/office/drawing/2014/main" id="{B40C191D-F62E-BE6B-CBCC-0EC2AEEAE3BC}"/>
              </a:ext>
            </a:extLst>
          </p:cNvPr>
          <p:cNvSpPr/>
          <p:nvPr/>
        </p:nvSpPr>
        <p:spPr>
          <a:xfrm>
            <a:off x="8157337" y="652441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45" name="Google Shape;45;p4">
            <a:extLst>
              <a:ext uri="{FF2B5EF4-FFF2-40B4-BE49-F238E27FC236}">
                <a16:creationId xmlns:a16="http://schemas.microsoft.com/office/drawing/2014/main" id="{3473E1AD-F070-7185-C305-3F2A35360AE5}"/>
              </a:ext>
            </a:extLst>
          </p:cNvPr>
          <p:cNvSpPr/>
          <p:nvPr/>
        </p:nvSpPr>
        <p:spPr>
          <a:xfrm>
            <a:off x="8552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D</a:t>
            </a:r>
            <a:endParaRPr sz="1400">
              <a:solidFill>
                <a:srgbClr val="000000"/>
              </a:solidFill>
              <a:latin typeface="Arial"/>
              <a:ea typeface="Arial"/>
              <a:cs typeface="Arial"/>
              <a:sym typeface="Arial"/>
            </a:endParaRPr>
          </a:p>
        </p:txBody>
      </p:sp>
      <p:sp>
        <p:nvSpPr>
          <p:cNvPr id="46" name="Google Shape;46;p4">
            <a:extLst>
              <a:ext uri="{FF2B5EF4-FFF2-40B4-BE49-F238E27FC236}">
                <a16:creationId xmlns:a16="http://schemas.microsoft.com/office/drawing/2014/main" id="{D5C772E4-1FA0-82A1-1B1D-2C1212D7BF41}"/>
              </a:ext>
            </a:extLst>
          </p:cNvPr>
          <p:cNvSpPr/>
          <p:nvPr/>
        </p:nvSpPr>
        <p:spPr>
          <a:xfrm>
            <a:off x="8976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E</a:t>
            </a:r>
            <a:endParaRPr sz="1400">
              <a:solidFill>
                <a:srgbClr val="000000"/>
              </a:solidFill>
              <a:latin typeface="Arial"/>
              <a:ea typeface="Arial"/>
              <a:cs typeface="Arial"/>
              <a:sym typeface="Arial"/>
            </a:endParaRPr>
          </a:p>
        </p:txBody>
      </p:sp>
      <p:sp>
        <p:nvSpPr>
          <p:cNvPr id="47" name="Google Shape;47;p4">
            <a:extLst>
              <a:ext uri="{FF2B5EF4-FFF2-40B4-BE49-F238E27FC236}">
                <a16:creationId xmlns:a16="http://schemas.microsoft.com/office/drawing/2014/main" id="{20B5EBC9-5B62-0C50-C700-CDE01DC5999B}"/>
              </a:ext>
            </a:extLst>
          </p:cNvPr>
          <p:cNvSpPr/>
          <p:nvPr/>
        </p:nvSpPr>
        <p:spPr>
          <a:xfrm>
            <a:off x="9370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I</a:t>
            </a:r>
            <a:endParaRPr sz="1400">
              <a:solidFill>
                <a:srgbClr val="000000"/>
              </a:solidFill>
              <a:latin typeface="Arial"/>
              <a:ea typeface="Arial"/>
              <a:cs typeface="Arial"/>
              <a:sym typeface="Arial"/>
            </a:endParaRPr>
          </a:p>
        </p:txBody>
      </p:sp>
      <p:sp>
        <p:nvSpPr>
          <p:cNvPr id="48" name="Google Shape;48;p4">
            <a:extLst>
              <a:ext uri="{FF2B5EF4-FFF2-40B4-BE49-F238E27FC236}">
                <a16:creationId xmlns:a16="http://schemas.microsoft.com/office/drawing/2014/main" id="{397AEE63-D5A1-C40E-8ADA-3F5F9C05DA15}"/>
              </a:ext>
            </a:extLst>
          </p:cNvPr>
          <p:cNvSpPr/>
          <p:nvPr/>
        </p:nvSpPr>
        <p:spPr>
          <a:xfrm>
            <a:off x="9769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P</a:t>
            </a:r>
            <a:endParaRPr sz="1400">
              <a:solidFill>
                <a:srgbClr val="000000"/>
              </a:solidFill>
              <a:latin typeface="Arial"/>
              <a:ea typeface="Arial"/>
              <a:cs typeface="Arial"/>
              <a:sym typeface="Arial"/>
            </a:endParaRPr>
          </a:p>
        </p:txBody>
      </p:sp>
      <p:sp>
        <p:nvSpPr>
          <p:cNvPr id="49" name="Google Shape;49;p4">
            <a:extLst>
              <a:ext uri="{FF2B5EF4-FFF2-40B4-BE49-F238E27FC236}">
                <a16:creationId xmlns:a16="http://schemas.microsoft.com/office/drawing/2014/main" id="{6D7640EB-6B81-15AC-99FB-8B1F7CCD06CC}"/>
              </a:ext>
            </a:extLst>
          </p:cNvPr>
          <p:cNvSpPr/>
          <p:nvPr/>
        </p:nvSpPr>
        <p:spPr>
          <a:xfrm>
            <a:off x="9623130" y="70712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50" name="Google Shape;50;p4">
            <a:extLst>
              <a:ext uri="{FF2B5EF4-FFF2-40B4-BE49-F238E27FC236}">
                <a16:creationId xmlns:a16="http://schemas.microsoft.com/office/drawing/2014/main" id="{5A4FAA37-07C3-FE3E-B4D0-81856C36A3FF}"/>
              </a:ext>
            </a:extLst>
          </p:cNvPr>
          <p:cNvSpPr/>
          <p:nvPr/>
        </p:nvSpPr>
        <p:spPr>
          <a:xfrm>
            <a:off x="1645750" y="116632"/>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algn="ctr">
              <a:buClr>
                <a:srgbClr val="000000"/>
              </a:buClr>
              <a:buSzPts val="1800"/>
            </a:pPr>
            <a:endParaRPr>
              <a:solidFill>
                <a:schemeClr val="dk1"/>
              </a:solidFill>
              <a:latin typeface="Arial"/>
              <a:ea typeface="Arial"/>
              <a:cs typeface="Arial"/>
              <a:sym typeface="Arial"/>
            </a:endParaRPr>
          </a:p>
        </p:txBody>
      </p:sp>
      <p:sp>
        <p:nvSpPr>
          <p:cNvPr id="52" name="Google Shape;52;p4">
            <a:extLst>
              <a:ext uri="{FF2B5EF4-FFF2-40B4-BE49-F238E27FC236}">
                <a16:creationId xmlns:a16="http://schemas.microsoft.com/office/drawing/2014/main" id="{CC9D6F53-87FD-1819-6257-1BBD85F5A82A}"/>
              </a:ext>
            </a:extLst>
          </p:cNvPr>
          <p:cNvSpPr txBox="1"/>
          <p:nvPr/>
        </p:nvSpPr>
        <p:spPr>
          <a:xfrm>
            <a:off x="1708141" y="183392"/>
            <a:ext cx="7556945" cy="666675"/>
          </a:xfrm>
          <a:prstGeom prst="rect">
            <a:avLst/>
          </a:prstGeom>
          <a:noFill/>
          <a:ln>
            <a:noFill/>
          </a:ln>
        </p:spPr>
        <p:txBody>
          <a:bodyPr spcFirstLastPara="1" wrap="square" lIns="91425" tIns="45700" rIns="91425" bIns="45700" anchor="t" anchorCtr="0">
            <a:noAutofit/>
          </a:bodyPr>
          <a:lstStyle/>
          <a:p>
            <a:r>
              <a:rPr lang="en-US" sz="1400" b="1" dirty="0">
                <a:solidFill>
                  <a:srgbClr val="000000"/>
                </a:solidFill>
                <a:latin typeface="Arial"/>
                <a:ea typeface="Arial"/>
                <a:cs typeface="Arial"/>
                <a:sym typeface="Arial"/>
              </a:rPr>
              <a:t>Cancer detection using histology slide images may help increase the accuracy of cancer detection and increase the rate at which these images are analyzed. This may allow for better cancer detection for both physicians and patients, saving lives. This project will be completed by </a:t>
            </a:r>
            <a:r>
              <a:rPr lang="en-US" sz="1400" b="1" dirty="0"/>
              <a:t>4/11/2026</a:t>
            </a:r>
            <a:endParaRPr lang="en-US" sz="1400" dirty="0"/>
          </a:p>
        </p:txBody>
      </p:sp>
      <p:sp>
        <p:nvSpPr>
          <p:cNvPr id="53" name="Google Shape;53;p4">
            <a:extLst>
              <a:ext uri="{FF2B5EF4-FFF2-40B4-BE49-F238E27FC236}">
                <a16:creationId xmlns:a16="http://schemas.microsoft.com/office/drawing/2014/main" id="{DE0A6453-640A-ABC6-85B1-8B04BB8185E4}"/>
              </a:ext>
            </a:extLst>
          </p:cNvPr>
          <p:cNvSpPr/>
          <p:nvPr/>
        </p:nvSpPr>
        <p:spPr>
          <a:xfrm>
            <a:off x="1707300" y="1576014"/>
            <a:ext cx="8748244"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a:buClr>
                <a:srgbClr val="000000"/>
              </a:buClr>
              <a:buSzPts val="1428"/>
            </a:pPr>
            <a:endParaRPr sz="1428">
              <a:solidFill>
                <a:srgbClr val="000000"/>
              </a:solidFill>
              <a:latin typeface="Arial"/>
              <a:ea typeface="Arial"/>
              <a:cs typeface="Arial"/>
              <a:sym typeface="Arial"/>
            </a:endParaRPr>
          </a:p>
        </p:txBody>
      </p:sp>
      <p:sp>
        <p:nvSpPr>
          <p:cNvPr id="54" name="Google Shape;54;p4">
            <a:extLst>
              <a:ext uri="{FF2B5EF4-FFF2-40B4-BE49-F238E27FC236}">
                <a16:creationId xmlns:a16="http://schemas.microsoft.com/office/drawing/2014/main" id="{ECD43CF8-68B5-32EF-4C19-258BCBE06F8D}"/>
              </a:ext>
            </a:extLst>
          </p:cNvPr>
          <p:cNvSpPr/>
          <p:nvPr/>
        </p:nvSpPr>
        <p:spPr>
          <a:xfrm>
            <a:off x="1736457" y="1661022"/>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4</a:t>
            </a:r>
            <a:endParaRPr sz="1400">
              <a:solidFill>
                <a:srgbClr val="000000"/>
              </a:solidFill>
              <a:latin typeface="Arial"/>
              <a:ea typeface="Arial"/>
              <a:cs typeface="Arial"/>
              <a:sym typeface="Arial"/>
            </a:endParaRPr>
          </a:p>
        </p:txBody>
      </p:sp>
      <p:sp>
        <p:nvSpPr>
          <p:cNvPr id="55" name="Google Shape;55;p4">
            <a:extLst>
              <a:ext uri="{FF2B5EF4-FFF2-40B4-BE49-F238E27FC236}">
                <a16:creationId xmlns:a16="http://schemas.microsoft.com/office/drawing/2014/main" id="{A6AFB6FF-267E-46D9-4DCC-7F1D30CEB89A}"/>
              </a:ext>
            </a:extLst>
          </p:cNvPr>
          <p:cNvSpPr/>
          <p:nvPr/>
        </p:nvSpPr>
        <p:spPr>
          <a:xfrm>
            <a:off x="2118715" y="1693076"/>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Constraints within solution space</a:t>
            </a:r>
            <a:endParaRPr sz="1400">
              <a:solidFill>
                <a:srgbClr val="000000"/>
              </a:solidFill>
              <a:latin typeface="Arial"/>
              <a:ea typeface="Arial"/>
              <a:cs typeface="Arial"/>
              <a:sym typeface="Arial"/>
            </a:endParaRPr>
          </a:p>
        </p:txBody>
      </p:sp>
      <p:sp>
        <p:nvSpPr>
          <p:cNvPr id="56" name="Google Shape;56;p4">
            <a:extLst>
              <a:ext uri="{FF2B5EF4-FFF2-40B4-BE49-F238E27FC236}">
                <a16:creationId xmlns:a16="http://schemas.microsoft.com/office/drawing/2014/main" id="{34F219C7-25E2-2690-22A6-CC41BD70ED2B}"/>
              </a:ext>
            </a:extLst>
          </p:cNvPr>
          <p:cNvSpPr/>
          <p:nvPr/>
        </p:nvSpPr>
        <p:spPr>
          <a:xfrm>
            <a:off x="1817915" y="2851767"/>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5</a:t>
            </a:r>
            <a:endParaRPr sz="1400">
              <a:solidFill>
                <a:srgbClr val="000000"/>
              </a:solidFill>
              <a:latin typeface="Arial"/>
              <a:ea typeface="Arial"/>
              <a:cs typeface="Arial"/>
              <a:sym typeface="Arial"/>
            </a:endParaRPr>
          </a:p>
        </p:txBody>
      </p:sp>
      <p:sp>
        <p:nvSpPr>
          <p:cNvPr id="57" name="Google Shape;57;p4">
            <a:extLst>
              <a:ext uri="{FF2B5EF4-FFF2-40B4-BE49-F238E27FC236}">
                <a16:creationId xmlns:a16="http://schemas.microsoft.com/office/drawing/2014/main" id="{3BD6F1B7-C78F-D8F7-EB42-CB1AF425E35B}"/>
              </a:ext>
            </a:extLst>
          </p:cNvPr>
          <p:cNvSpPr/>
          <p:nvPr/>
        </p:nvSpPr>
        <p:spPr>
          <a:xfrm>
            <a:off x="2200173" y="2883823"/>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Stakeholders to provide key insight</a:t>
            </a:r>
            <a:endParaRPr sz="1400">
              <a:solidFill>
                <a:srgbClr val="000000"/>
              </a:solidFill>
              <a:latin typeface="Arial"/>
              <a:ea typeface="Arial"/>
              <a:cs typeface="Arial"/>
              <a:sym typeface="Arial"/>
            </a:endParaRPr>
          </a:p>
        </p:txBody>
      </p:sp>
      <p:sp>
        <p:nvSpPr>
          <p:cNvPr id="58" name="Google Shape;58;p4">
            <a:extLst>
              <a:ext uri="{FF2B5EF4-FFF2-40B4-BE49-F238E27FC236}">
                <a16:creationId xmlns:a16="http://schemas.microsoft.com/office/drawing/2014/main" id="{4CE43150-AE31-F77C-BFCC-44D58FFAF92D}"/>
              </a:ext>
            </a:extLst>
          </p:cNvPr>
          <p:cNvSpPr txBox="1"/>
          <p:nvPr/>
        </p:nvSpPr>
        <p:spPr>
          <a:xfrm>
            <a:off x="1817914" y="2012875"/>
            <a:ext cx="8588736" cy="1315657"/>
          </a:xfrm>
          <a:prstGeom prst="rect">
            <a:avLst/>
          </a:prstGeom>
          <a:noFill/>
          <a:ln>
            <a:noFill/>
          </a:ln>
        </p:spPr>
        <p:txBody>
          <a:bodyPr spcFirstLastPara="1" wrap="square" lIns="91425" tIns="45700" rIns="91425" bIns="45700" anchor="t" anchorCtr="0">
            <a:noAutofit/>
          </a:bodyPr>
          <a:lstStyle/>
          <a:p>
            <a:pPr marL="171450" indent="-171450">
              <a:buClr>
                <a:srgbClr val="000000"/>
              </a:buClr>
              <a:buSzPts val="1070"/>
              <a:buFont typeface="Arial"/>
              <a:buChar char="•"/>
            </a:pPr>
            <a:r>
              <a:rPr lang="en-US" sz="1070" dirty="0">
                <a:solidFill>
                  <a:srgbClr val="000000"/>
                </a:solidFill>
                <a:latin typeface="Arial"/>
                <a:ea typeface="Arial"/>
                <a:cs typeface="Arial"/>
                <a:sym typeface="Arial"/>
              </a:rPr>
              <a:t>The data includes images of cancer where the cancer is limited to the center of the image. This may not always be the case in practice.</a:t>
            </a:r>
            <a:endParaRPr dirty="0"/>
          </a:p>
          <a:p>
            <a:pPr marL="171450" indent="-171450">
              <a:buClr>
                <a:srgbClr val="000000"/>
              </a:buClr>
              <a:buSzPts val="1070"/>
              <a:buFont typeface="Arial"/>
              <a:buChar char="•"/>
            </a:pPr>
            <a:r>
              <a:rPr lang="en-US" sz="1070" dirty="0">
                <a:solidFill>
                  <a:srgbClr val="000000"/>
                </a:solidFill>
                <a:latin typeface="Arial"/>
                <a:ea typeface="Arial"/>
                <a:cs typeface="Arial"/>
                <a:sym typeface="Arial"/>
              </a:rPr>
              <a:t>Time will be a very large constraint as this data will take much longer than other sets to model</a:t>
            </a:r>
            <a:endParaRPr sz="1070" dirty="0">
              <a:solidFill>
                <a:srgbClr val="000000"/>
              </a:solidFill>
              <a:latin typeface="Arial"/>
              <a:ea typeface="Arial"/>
              <a:cs typeface="Arial"/>
              <a:sym typeface="Arial"/>
            </a:endParaRPr>
          </a:p>
        </p:txBody>
      </p:sp>
      <p:sp>
        <p:nvSpPr>
          <p:cNvPr id="59" name="Google Shape;59;p4">
            <a:extLst>
              <a:ext uri="{FF2B5EF4-FFF2-40B4-BE49-F238E27FC236}">
                <a16:creationId xmlns:a16="http://schemas.microsoft.com/office/drawing/2014/main" id="{6BB4752E-93DF-B421-5CEE-41CEE5711D53}"/>
              </a:ext>
            </a:extLst>
          </p:cNvPr>
          <p:cNvSpPr txBox="1"/>
          <p:nvPr/>
        </p:nvSpPr>
        <p:spPr>
          <a:xfrm>
            <a:off x="1867957" y="3144855"/>
            <a:ext cx="4324418" cy="1081065"/>
          </a:xfrm>
          <a:prstGeom prst="rect">
            <a:avLst/>
          </a:prstGeom>
          <a:noFill/>
          <a:ln>
            <a:noFill/>
          </a:ln>
        </p:spPr>
        <p:txBody>
          <a:bodyPr spcFirstLastPara="1" wrap="square" lIns="91425" tIns="45700" rIns="91425" bIns="45700" anchor="t" anchorCtr="0">
            <a:noAutofit/>
          </a:bodyPr>
          <a:lstStyle/>
          <a:p>
            <a:pPr marL="171450" indent="-171450" algn="just">
              <a:buClr>
                <a:srgbClr val="000000"/>
              </a:buClr>
              <a:buSzPts val="1000"/>
              <a:buFont typeface="Arial"/>
              <a:buChar char="•"/>
            </a:pPr>
            <a:r>
              <a:rPr lang="en-AU" sz="1000" dirty="0">
                <a:solidFill>
                  <a:srgbClr val="000000"/>
                </a:solidFill>
                <a:latin typeface="Arial"/>
                <a:ea typeface="Arial"/>
                <a:cs typeface="Arial"/>
                <a:sym typeface="Arial"/>
              </a:rPr>
              <a:t>Benjamin Peters (Me)</a:t>
            </a:r>
          </a:p>
          <a:p>
            <a:pPr marL="171450" indent="-171450" algn="just">
              <a:buClr>
                <a:srgbClr val="000000"/>
              </a:buClr>
              <a:buSzPts val="1000"/>
              <a:buFont typeface="Arial"/>
              <a:buChar char="•"/>
            </a:pPr>
            <a:r>
              <a:rPr lang="en-AU" sz="1000" dirty="0">
                <a:solidFill>
                  <a:srgbClr val="000000"/>
                </a:solidFill>
                <a:latin typeface="Arial"/>
                <a:cs typeface="Arial"/>
                <a:sym typeface="Arial"/>
              </a:rPr>
              <a:t>Oncologists</a:t>
            </a:r>
          </a:p>
          <a:p>
            <a:pPr marL="171450" indent="-171450" algn="just">
              <a:buClr>
                <a:srgbClr val="000000"/>
              </a:buClr>
              <a:buSzPts val="1000"/>
              <a:buFont typeface="Arial"/>
              <a:buChar char="•"/>
            </a:pPr>
            <a:r>
              <a:rPr lang="en-AU" sz="1000" dirty="0">
                <a:solidFill>
                  <a:srgbClr val="000000"/>
                </a:solidFill>
                <a:latin typeface="Arial"/>
                <a:cs typeface="Arial"/>
                <a:sym typeface="Arial"/>
              </a:rPr>
              <a:t>Cancer Patients</a:t>
            </a:r>
          </a:p>
          <a:p>
            <a:pPr marL="171450" indent="-171450" algn="just">
              <a:buClr>
                <a:srgbClr val="000000"/>
              </a:buClr>
              <a:buSzPts val="1000"/>
              <a:buFont typeface="Arial"/>
              <a:buChar char="•"/>
            </a:pPr>
            <a:r>
              <a:rPr lang="en-AU" sz="1000" dirty="0">
                <a:solidFill>
                  <a:srgbClr val="000000"/>
                </a:solidFill>
                <a:latin typeface="Arial"/>
                <a:cs typeface="Arial"/>
                <a:sym typeface="Arial"/>
              </a:rPr>
              <a:t>Hospitals</a:t>
            </a:r>
          </a:p>
          <a:p>
            <a:pPr marL="171450" indent="-171450" algn="just">
              <a:buClr>
                <a:srgbClr val="000000"/>
              </a:buClr>
              <a:buSzPts val="1000"/>
              <a:buFont typeface="Arial"/>
              <a:buChar char="•"/>
            </a:pPr>
            <a:endParaRPr lang="en-AU" sz="1000" dirty="0">
              <a:solidFill>
                <a:srgbClr val="000000"/>
              </a:solidFill>
              <a:latin typeface="Arial"/>
              <a:cs typeface="Arial"/>
              <a:sym typeface="Arial"/>
            </a:endParaRPr>
          </a:p>
          <a:p>
            <a:pPr marL="171450" indent="-171450" algn="just">
              <a:buClr>
                <a:srgbClr val="000000"/>
              </a:buClr>
              <a:buSzPts val="1000"/>
              <a:buFont typeface="Arial"/>
              <a:buChar char="•"/>
            </a:pPr>
            <a:endParaRPr dirty="0"/>
          </a:p>
        </p:txBody>
      </p:sp>
      <p:sp>
        <p:nvSpPr>
          <p:cNvPr id="60" name="Google Shape;60;p4">
            <a:extLst>
              <a:ext uri="{FF2B5EF4-FFF2-40B4-BE49-F238E27FC236}">
                <a16:creationId xmlns:a16="http://schemas.microsoft.com/office/drawing/2014/main" id="{806B05D7-3969-86CE-36EF-366E508AF767}"/>
              </a:ext>
            </a:extLst>
          </p:cNvPr>
          <p:cNvSpPr/>
          <p:nvPr/>
        </p:nvSpPr>
        <p:spPr>
          <a:xfrm>
            <a:off x="1736456" y="4056294"/>
            <a:ext cx="288300" cy="288300"/>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6</a:t>
            </a:r>
            <a:endParaRPr sz="1400">
              <a:solidFill>
                <a:srgbClr val="000000"/>
              </a:solidFill>
              <a:latin typeface="Arial"/>
              <a:ea typeface="Arial"/>
              <a:cs typeface="Arial"/>
              <a:sym typeface="Arial"/>
            </a:endParaRPr>
          </a:p>
        </p:txBody>
      </p:sp>
      <p:sp>
        <p:nvSpPr>
          <p:cNvPr id="61" name="Google Shape;61;p4">
            <a:extLst>
              <a:ext uri="{FF2B5EF4-FFF2-40B4-BE49-F238E27FC236}">
                <a16:creationId xmlns:a16="http://schemas.microsoft.com/office/drawing/2014/main" id="{E038B86A-425D-2FF8-3B13-D6EEB17B7787}"/>
              </a:ext>
            </a:extLst>
          </p:cNvPr>
          <p:cNvSpPr/>
          <p:nvPr/>
        </p:nvSpPr>
        <p:spPr>
          <a:xfrm>
            <a:off x="2118715" y="4088350"/>
            <a:ext cx="3597600" cy="224100"/>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Key data sources </a:t>
            </a:r>
            <a:endParaRPr sz="1400">
              <a:solidFill>
                <a:srgbClr val="000000"/>
              </a:solidFill>
              <a:latin typeface="Arial"/>
              <a:ea typeface="Arial"/>
              <a:cs typeface="Arial"/>
              <a:sym typeface="Arial"/>
            </a:endParaRPr>
          </a:p>
        </p:txBody>
      </p:sp>
      <p:sp>
        <p:nvSpPr>
          <p:cNvPr id="62" name="Google Shape;62;p4">
            <a:extLst>
              <a:ext uri="{FF2B5EF4-FFF2-40B4-BE49-F238E27FC236}">
                <a16:creationId xmlns:a16="http://schemas.microsoft.com/office/drawing/2014/main" id="{F6C37A24-1B6E-8040-9648-4B6207431118}"/>
              </a:ext>
            </a:extLst>
          </p:cNvPr>
          <p:cNvSpPr txBox="1"/>
          <p:nvPr/>
        </p:nvSpPr>
        <p:spPr>
          <a:xfrm>
            <a:off x="1867957" y="4231725"/>
            <a:ext cx="8205300" cy="1592100"/>
          </a:xfrm>
          <a:prstGeom prst="rect">
            <a:avLst/>
          </a:prstGeom>
          <a:noFill/>
          <a:ln>
            <a:noFill/>
          </a:ln>
        </p:spPr>
        <p:txBody>
          <a:bodyPr spcFirstLastPara="1" wrap="square" lIns="91425" tIns="45700" rIns="91425" bIns="45700" anchor="t" anchorCtr="0">
            <a:noAutofit/>
          </a:bodyPr>
          <a:lstStyle/>
          <a:p>
            <a:pPr algn="just"/>
            <a:endParaRPr sz="1070" dirty="0">
              <a:solidFill>
                <a:srgbClr val="000000"/>
              </a:solidFill>
              <a:latin typeface="Arial"/>
              <a:ea typeface="Arial"/>
              <a:cs typeface="Arial"/>
              <a:sym typeface="Arial"/>
            </a:endParaRPr>
          </a:p>
          <a:p>
            <a:pPr marL="171450" indent="-171450" algn="just">
              <a:buClr>
                <a:srgbClr val="000000"/>
              </a:buClr>
              <a:buSzPts val="1070"/>
              <a:buFont typeface="Arial"/>
              <a:buChar char="•"/>
            </a:pPr>
            <a:r>
              <a:rPr lang="en-US" sz="1070" dirty="0">
                <a:solidFill>
                  <a:srgbClr val="000000"/>
                </a:solidFill>
                <a:latin typeface="Arial"/>
                <a:ea typeface="Arial"/>
                <a:cs typeface="Arial"/>
                <a:sym typeface="Arial"/>
              </a:rPr>
              <a:t>Patch </a:t>
            </a:r>
            <a:r>
              <a:rPr lang="en-US" sz="1070" dirty="0" err="1">
                <a:solidFill>
                  <a:srgbClr val="000000"/>
                </a:solidFill>
                <a:latin typeface="Arial"/>
                <a:ea typeface="Arial"/>
                <a:cs typeface="Arial"/>
                <a:sym typeface="Arial"/>
              </a:rPr>
              <a:t>Camelon</a:t>
            </a:r>
            <a:r>
              <a:rPr lang="en-US" sz="1070" dirty="0">
                <a:solidFill>
                  <a:srgbClr val="000000"/>
                </a:solidFill>
                <a:latin typeface="Arial"/>
                <a:ea typeface="Arial"/>
                <a:cs typeface="Arial"/>
                <a:sym typeface="Arial"/>
              </a:rPr>
              <a:t> Image Dataset</a:t>
            </a:r>
            <a:endParaRPr dirty="0"/>
          </a:p>
          <a:p>
            <a:pPr marL="171450" lvl="2" indent="-171450" algn="just">
              <a:buClr>
                <a:srgbClr val="000000"/>
              </a:buClr>
              <a:buSzPts val="1100"/>
              <a:buFont typeface="Arial"/>
              <a:buChar char="•"/>
            </a:pPr>
            <a:r>
              <a:rPr lang="en-US" sz="1100" dirty="0" err="1">
                <a:hlinkClick r:id="rId3"/>
              </a:rPr>
              <a:t>basveeling</a:t>
            </a:r>
            <a:r>
              <a:rPr lang="en-US" sz="1100" dirty="0">
                <a:hlinkClick r:id="rId3"/>
              </a:rPr>
              <a:t>/</a:t>
            </a:r>
            <a:r>
              <a:rPr lang="en-US" sz="1100" dirty="0" err="1">
                <a:hlinkClick r:id="rId3"/>
              </a:rPr>
              <a:t>pcam</a:t>
            </a:r>
            <a:r>
              <a:rPr lang="en-US" sz="1100" dirty="0">
                <a:hlinkClick r:id="rId3"/>
              </a:rPr>
              <a:t>: The </a:t>
            </a:r>
            <a:r>
              <a:rPr lang="en-US" sz="1100" dirty="0" err="1">
                <a:hlinkClick r:id="rId3"/>
              </a:rPr>
              <a:t>PatchCamelyon</a:t>
            </a:r>
            <a:r>
              <a:rPr lang="en-US" sz="1100" dirty="0">
                <a:hlinkClick r:id="rId3"/>
              </a:rPr>
              <a:t> (</a:t>
            </a:r>
            <a:r>
              <a:rPr lang="en-US" sz="1100" dirty="0" err="1">
                <a:hlinkClick r:id="rId3"/>
              </a:rPr>
              <a:t>PCam</a:t>
            </a:r>
            <a:r>
              <a:rPr lang="en-US" sz="1100" dirty="0">
                <a:hlinkClick r:id="rId3"/>
              </a:rPr>
              <a:t>) deep learning classification benchmark.</a:t>
            </a:r>
            <a:r>
              <a:rPr lang="en-US" sz="1100" dirty="0"/>
              <a:t> </a:t>
            </a:r>
          </a:p>
          <a:p>
            <a:pPr marL="171450" indent="-103504" algn="just">
              <a:buClr>
                <a:srgbClr val="000000"/>
              </a:buClr>
              <a:buSzPts val="1070"/>
            </a:pPr>
            <a:endParaRPr sz="107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93042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9795</TotalTime>
  <Words>1100</Words>
  <Application>Microsoft Office PowerPoint</Application>
  <PresentationFormat>Widescreen</PresentationFormat>
  <Paragraphs>69</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Quattrocento Sans</vt:lpstr>
      <vt:lpstr>Office Theme</vt:lpstr>
      <vt:lpstr>Problem Statement Worksheet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Peters</dc:creator>
  <cp:lastModifiedBy>Benjamin Peters</cp:lastModifiedBy>
  <cp:revision>2</cp:revision>
  <dcterms:created xsi:type="dcterms:W3CDTF">2026-03-11T00:27:13Z</dcterms:created>
  <dcterms:modified xsi:type="dcterms:W3CDTF">2026-03-25T20:18:22Z</dcterms:modified>
</cp:coreProperties>
</file>